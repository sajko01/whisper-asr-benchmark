
<file path=[Content_Types].xml><?xml version="1.0" encoding="utf-8"?>
<Types xmlns="http://schemas.openxmlformats.org/package/2006/content-types">
  <Default Extension="xml" ContentType="application/xml"/>
  <Default Extension="emf" ContentType="image/x-emf"/>
  <Default Extension="png" ContentType="image/png"/>
  <Default Extension="jpeg" ContentType="image/jpeg"/>
  <Default Extension="JPG" ContentType="image/.jp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7"/>
  </p:notesMasterIdLst>
  <p:handoutMasterIdLst>
    <p:handoutMasterId r:id="rId53"/>
  </p:handoutMasterIdLst>
  <p:sldIdLst>
    <p:sldId id="1581" r:id="rId4"/>
    <p:sldId id="1658" r:id="rId5"/>
    <p:sldId id="1795" r:id="rId6"/>
    <p:sldId id="1796" r:id="rId8"/>
    <p:sldId id="1797" r:id="rId9"/>
    <p:sldId id="1798" r:id="rId10"/>
    <p:sldId id="1799" r:id="rId11"/>
    <p:sldId id="1800" r:id="rId12"/>
    <p:sldId id="1801" r:id="rId13"/>
    <p:sldId id="1802" r:id="rId14"/>
    <p:sldId id="1803" r:id="rId15"/>
    <p:sldId id="1804" r:id="rId16"/>
    <p:sldId id="1805" r:id="rId17"/>
    <p:sldId id="1806" r:id="rId18"/>
    <p:sldId id="1807" r:id="rId19"/>
    <p:sldId id="1808" r:id="rId20"/>
    <p:sldId id="1809" r:id="rId21"/>
    <p:sldId id="1810" r:id="rId22"/>
    <p:sldId id="1813" r:id="rId23"/>
    <p:sldId id="1812" r:id="rId24"/>
    <p:sldId id="1811" r:id="rId25"/>
    <p:sldId id="1815" r:id="rId26"/>
    <p:sldId id="1816" r:id="rId27"/>
    <p:sldId id="1817" r:id="rId28"/>
    <p:sldId id="1818" r:id="rId29"/>
    <p:sldId id="1819" r:id="rId30"/>
    <p:sldId id="1821" r:id="rId31"/>
    <p:sldId id="1822" r:id="rId32"/>
    <p:sldId id="1823" r:id="rId33"/>
    <p:sldId id="1824" r:id="rId34"/>
    <p:sldId id="1825" r:id="rId35"/>
    <p:sldId id="1826" r:id="rId36"/>
    <p:sldId id="1827" r:id="rId37"/>
    <p:sldId id="1828" r:id="rId38"/>
    <p:sldId id="1829" r:id="rId39"/>
    <p:sldId id="1830" r:id="rId40"/>
    <p:sldId id="1831" r:id="rId41"/>
    <p:sldId id="1820" r:id="rId42"/>
    <p:sldId id="1832" r:id="rId43"/>
    <p:sldId id="1833" r:id="rId44"/>
    <p:sldId id="1834" r:id="rId45"/>
    <p:sldId id="1835" r:id="rId46"/>
    <p:sldId id="1814" r:id="rId47"/>
    <p:sldId id="1836" r:id="rId48"/>
    <p:sldId id="1837" r:id="rId49"/>
    <p:sldId id="1582" r:id="rId50"/>
    <p:sldId id="1606" r:id="rId51"/>
    <p:sldId id="1794" r:id="rId5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4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A3AC0"/>
    <a:srgbClr val="376092"/>
    <a:srgbClr val="5C4BC5"/>
    <a:srgbClr val="5867F6"/>
    <a:srgbClr val="0A1BBE"/>
    <a:srgbClr val="0066CC"/>
    <a:srgbClr val="081592"/>
    <a:srgbClr val="192EF3"/>
    <a:srgbClr val="2F40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18" autoAdjust="0"/>
    <p:restoredTop sz="96374" autoAdjust="0"/>
  </p:normalViewPr>
  <p:slideViewPr>
    <p:cSldViewPr showGuides="1">
      <p:cViewPr varScale="1">
        <p:scale>
          <a:sx n="73" d="100"/>
          <a:sy n="73" d="100"/>
        </p:scale>
        <p:origin x="1172" y="44"/>
      </p:cViewPr>
      <p:guideLst>
        <p:guide orient="horz" pos="2160"/>
        <p:guide pos="2846"/>
      </p:guideLst>
    </p:cSldViewPr>
  </p:slideViewPr>
  <p:outlineViewPr>
    <p:cViewPr>
      <p:scale>
        <a:sx n="33" d="100"/>
        <a:sy n="33" d="100"/>
      </p:scale>
      <p:origin x="0" y="-5718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7" d="100"/>
          <a:sy n="87" d="100"/>
        </p:scale>
        <p:origin x="384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59" Type="http://schemas.openxmlformats.org/officeDocument/2006/relationships/customXml" Target="../customXml/item3.xml"/><Relationship Id="rId58" Type="http://schemas.openxmlformats.org/officeDocument/2006/relationships/customXml" Target="../customXml/item2.xml"/><Relationship Id="rId57" Type="http://schemas.openxmlformats.org/officeDocument/2006/relationships/customXml" Target="../customXml/item1.xml"/><Relationship Id="rId56" Type="http://schemas.openxmlformats.org/officeDocument/2006/relationships/tableStyles" Target="tableStyles.xml"/><Relationship Id="rId55" Type="http://schemas.openxmlformats.org/officeDocument/2006/relationships/viewProps" Target="viewProps.xml"/><Relationship Id="rId54" Type="http://schemas.openxmlformats.org/officeDocument/2006/relationships/presProps" Target="presProps.xml"/><Relationship Id="rId53" Type="http://schemas.openxmlformats.org/officeDocument/2006/relationships/handoutMaster" Target="handoutMasters/handoutMaster1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slide" Target="slides/slide2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069BB1-D03D-4AE9-8879-A2C9D24ADD23}" type="datetimeFigureOut">
              <a:rPr lang="en-GB" smtClean="0"/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22656A-7F69-4A44-87E6-AD76825CE2AF}" type="slidenum">
              <a:rPr lang="en-GB" smtClean="0"/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44FCA0-EB00-4933-A092-B175FFE8760D}" type="datetimeFigureOut">
              <a:rPr lang="en-GB" smtClean="0"/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F6D8F-52A4-4325-8831-5D637055B7D3}" type="slidenum">
              <a:rPr lang="en-GB" smtClean="0"/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Аутоматско препознавање говора представља процес конверзије говорног сигнала у текстуални облик.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Последњих година ова област бележи огроман напредак захваљујући дубоким неуронским мрежама и Transformer архитектури.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Данас се ASR системи користе у великом броју комерцијалних и индустријских апликација.</a:t>
            </a:r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Системи за препознавање говора данас се користе у великом броју апликација.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Најпознатији примери су виртуелни асистенти као што су Siri, Alexa и Google Assistant.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Поред тога користе се за аутоматско титловање видео материјала, транскрипцију састанака и предавања, као и за анализу разговора у контакт центрима.</a:t>
            </a:r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Иако Whisper постиже одличне резултате у препознавању говора, његова практична примена може бити ограничена брзином извршавања и меморијским захтевима.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Посебно је проблематично покретање на CPU уређајима и системима ограничених ресурса.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Због тога се јавила потреба за оптимизованим решењем као што је Faster-Whisper.</a:t>
            </a:r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Ово представља централно истраживачко питање рада.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Одговор на њега добијен је кроз експерименте у којима су анализирани време извршавања, потрошња меморије и WER метрика.</a:t>
            </a:r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Сваки систем за препознавање говора пролази кроз неколико корака.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Најпре се учитава аудио сигнал.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Затим се из сигнала издвајају карактеристике погодне за неуронску мрежу.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Након тога модел обрађује карактеристике и генерише текстуални излаз.</a:t>
            </a:r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WER представља најчешће коришћену метрику у системима за препознавање говора.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Она показује колико се генерисани текст разликује од референтног текста.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Мања вредност WER метрике значи бољи квалитет препознавања.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Вредност 0% означава савршену транскрипцију.</a:t>
            </a:r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Whisper модел је заснован на Transformer архитектури.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Transformer се састоји од encoder и decoder дела.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Кључна компонента је self-attention механизам који омогућава моделу да одреди које су информације у улазном сигналу најважније.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Управо захваљујући Transformer архитектури постигнут је значајан напредак у задацима препознавања и генерисања текста и говора.</a:t>
            </a:r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Најважнија компонента Transformer архитектуре је Self-Attention механизам.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Основна идеја је да модел приликом обраде једног елемента може истовремено да посматра и све остале елементе у секвенци.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За то користи три матрице: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Query</a:t>
            </a:r>
            <a:endParaRPr lang="en-US" altLang="en-US"/>
          </a:p>
          <a:p>
            <a:r>
              <a:rPr lang="en-US" altLang="en-US"/>
              <a:t>Key</a:t>
            </a:r>
            <a:endParaRPr lang="en-US" altLang="en-US"/>
          </a:p>
          <a:p>
            <a:r>
              <a:rPr lang="en-US" altLang="en-US"/>
              <a:t>Value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На основу њих израчунава се колико је сваки део улазног сигнала важан за тренутну обраду.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Управо овај механизам омогућио је велики напредак у задацима обраде текста и говора.</a:t>
            </a:r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Whisper је модел компаније OpenAI представљен 2022. године.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Представља један од најуспешнијих open-source система за аутоматско препознавање говора.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Модел подржава више десетина језика и може да извршава: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транскрипцију</a:t>
            </a:r>
            <a:endParaRPr lang="en-US" altLang="en-US"/>
          </a:p>
          <a:p>
            <a:r>
              <a:rPr lang="en-US" altLang="en-US"/>
              <a:t>превођење говора</a:t>
            </a:r>
            <a:endParaRPr lang="en-US" altLang="en-US"/>
          </a:p>
          <a:p>
            <a:r>
              <a:rPr lang="en-US" altLang="en-US"/>
              <a:t>детекцију језика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Основу система чини Transformer encoder-decoder архитектура.</a:t>
            </a:r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Whisper не користи директно WAV сигнал.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Најпре се аудио претвара у Log-Mel Spectrogram.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Ова репрезентација садржи временске и фреквенцијске информације о говору.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Encoder анализира спектрограм и формира унутрашњу репрезентацију сигнала.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Decoder на основу те репрезентације генерише текст.</a:t>
            </a:r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Један од главних разлога успеха Whisper модела је изузетно велики скуп података.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Модел је обучен на приближно 680 хиљада сати аудио материјала.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Подаци су прикупљани са интернета и покривају велики број језика.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Захваљујући томе Whisper показује добру робусност на различите акценте, шум и услове снимања.</a:t>
            </a:r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OpenAI је објавио више верзија модела различите величине.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Мањи модели су бржи али мање прецизни.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Већи модели су тачнији али захтевају више меморије и дуже време извршавања.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У овом раду коришћен је base модел за репродукцију, а у оригиналном доприносу анализирани су tiny, base, small и medium модели.</a:t>
            </a:r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Whisper је веома квалитетан модел за препознавање говора.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Међутим, његов главни недостатак је што захтева релативно велику количину меморије и времена за инференцију.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Посебно се то примећује када се модел извршава на процесору без GPU акцелерације.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Због тога се појављује Faster-Whisper.</a:t>
            </a:r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Faster-Whisper представља реимплементацију Whisper модела коришћењем CTranslate2 библиотеке.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Важно је нагласити да се не ради о новом моделу.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Архитектура и тежине остају исте.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Промењен је начин извршавања како би се добила већа брзина и мања потрошња меморије.</a:t>
            </a:r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CTranslate2 је библиотека намењена брзом извршавању Transformer модела.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Првобитно је развијена за машинско превођење, али се данас користи и за моделе као што су Whisper.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Омогућава оптимизације које значајно смањују меморијску потрошњу и повећавају брзину рада.</a:t>
            </a:r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Једна од најважнијих оптимизација је квантизација.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Код класичног Whisper модела тежине се најчешће чувају као FP32 бројеви.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Faster-Whisper омогућава коришћење INT8 представљања.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То значајно смањује меморијске захтеве и убрзава извршавање.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У овом раду коришћен је управо INT8 режим рада.</a:t>
            </a:r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Најважнија ствар коју треба запамтити је да Faster-Whisper није нови модел.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Користи исту архитектуру и исте тежине као оригинални Whisper.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Разлика је искључиво у оптимизованом начину извршавања.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Због тога Faster-Whisper може да постигне мању потрошњу меморије и краће време транскрипције уз задржавање истог квалитета препознавања.</a:t>
            </a:r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Пре почетка експеримената било је неопходно дефинисати окружење у ком су тестови извршавани.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Сви експерименти реализовани су на истом рачунару како би резултати били упоредиви.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Коришћени су оригинални Whisper модел и Faster-Whisper имплементација заснована на CTranslate2 библиотеци.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Сви тестови су покретани на CPU уређају.</a:t>
            </a:r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За експерименте коришћена су три аудио записа различите дужине.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Ово је омогућило анализу понашања система при различитим дужинама аудио сигнала.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Сви записи су генерисани Matcha-TTS системом и садрже јасан енглески говор без шума.</a:t>
            </a:r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У првом експерименту коришћена је оригинална OpenAI Whisper имплементација.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Модел base транскрибовао је сва три аудио записа.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Може се приметити да време транскрипције расте са повећањем дужине сигнала.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Најкраћи сигнал обрађен је за 2.35 секунди, док је најдужи захтевао 6.53 секунде.</a:t>
            </a:r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Оригинални Whisper успешно је транскрибовао све тестиране сигнале.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Није било грешака приликом извршавања.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Ови резултати представљају референтну основу за поређење са Faster-Whisper системом.</a:t>
            </a:r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У другом експерименту исти аудио записи обрађени су Faster-Whisper имплементацијом.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Коришћен је исти модел base како би поређење било фер.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Већ на овом слајду може се приметити да су времена извршавања мања него код оригиналног Whisper система.</a:t>
            </a:r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Важно је нагласити да Faster-Whisper не користи другачији модел.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Архитектура и тежине су идентичне.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Разлика је у оптимизованом начину извршавања преко CTranslate2 механизма.</a:t>
            </a:r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У овом експерименту директно су упоређена времена извршавања.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За све аудио записе Faster-Whisper је био бржи.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Највеће убрзање добијено је код најкраћег сигнала.</a:t>
            </a:r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На графику се јасно види да је Faster-Whisper крива испод оригиналног Whisper-а за све аудио записе.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То значи да је време транскрипције мање у свим тестираним случајевима.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Добијено убрзање кретало се од приближно 1.33 до 1.96 пута.</a:t>
            </a:r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Поред брзине, анализирана је и потрошња меморије.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Ово је важан параметар јер многи системи немају довољно ресурса за велике моделе.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Резултати показују огромну предност Faster-Whisper имплементације.</a:t>
            </a:r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Једна од најважнијих оптимизација је квантизација.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Код класичног Whisper модела тежине се најчешће чувају као FP32 бројеви.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Faster-Whisper омогућава коришћење INT8 представљања.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То значајно смањује меморијске захтеве и убрзава извршавање.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У овом раду коришћен је управо INT8 режим рада.</a:t>
            </a:r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Последњи експеримент репродукције односи се на квалитет транскрипције.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За процену квалитета коришћена је WER метрика.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Оригинални Whisper и Faster-Whisper постигли су идентичан резултат од 3.70%.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Ово је веома важан резултат јер показује да Faster-Whisper не жртвује тачност ради већих перформанси.</a:t>
            </a:r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sr-Cyrl-BA" altLang="en-US"/>
              <a:t>У табели</a:t>
            </a:r>
            <a:r>
              <a:rPr lang="en-US" altLang="en-US"/>
              <a:t> се види да оба система имају идентичну WER вредност.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То значи да су разлике између система искључиво у брзини и потрошњи меморије.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Квалитет транскрипције остаје исти.</a:t>
            </a:r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На основу свих репродукованих експеримената може се закључити да Faster-Whisper оправдава тврдње наведене у документацији.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Постигнуто је значајно смањење времена извршавања и меморијске потрошње без губитка квалитета препознавања.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Овим је завршен део рада који се односи на репродукцију.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У наставку приказујем оригинални допринос.</a:t>
            </a:r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Како бих проширио анализу Faster-Whisper система, реализовао сам три додатна експеримента који нису били део основне репродукције.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Циљ је био да се испита утицај величине модела, присуства шума и језика на квалитет транскрипције.</a:t>
            </a:r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У првом доприносу анализиране су четири величине Faster-Whisper модела.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За сваки модел измерено је време извршавања и израчуната WER вредност.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Циљ је био да се утврди који модел представља најбољи компромис између брзине и тачности.</a:t>
            </a:r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На графику се види да време извршавања нагло расте са величином модела.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Tiny модел је најбржи.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Medium модел је најспорији.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Разлика између њих је већа од осам пута.</a:t>
            </a:r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Овде се види супротан тренд.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Повећање величине модела смањује WER.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Tiny модел има највећу грешку.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Small и medium имају најбоље резултате.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Међутим, medium није побољшао WER у односу на small.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Због тога се small показао као најбољи компромис.</a:t>
            </a:r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Други допринос односи се на анализу отпорности модела на шум.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На аудио сигнал додавани су бели и pink шум различитих интензитета.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За сваки случај израчуната је WER вредност.</a:t>
            </a:r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Ово је један од најзанимљивијих резултата рада.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Види се да је модел веома отпоран на умерене нивое шума.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До вредности од око -5 dB резултати остају веома добри.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Након тога долази до наглог повећања WER вредности.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Такође се види да је бели шум много деструктивнији од pink шума.</a:t>
            </a:r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Резултати показују да Faster-Whisper може поуздано радити у реалним условима где постоји одређени ниво позадинског шума.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Међутим, при веома ниским SNR вредностима долази до значајног погоршања транскрипције.</a:t>
            </a:r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Последњи допринос односи се на поређење енглеског и српског језика.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За оба аудио записа био је познат референтни текст.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Након транскрипције израчуната је WER метрика</a:t>
            </a:r>
            <a:endParaRPr lang="en-US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Резултати показују огромну разлику.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За енглески говор модел је остварио савршен резултат.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За српски говор добијен је WER од 33.33%.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То показује да језик значајно утиче на квалитет препознавања.</a:t>
            </a:r>
            <a:endParaRPr lang="en-US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Овде су сумирани сви резултати рада.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Најбржи модел био је tiny.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Најбољи однос брзине и квалитета показао је small.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INT8 квантизација омогућила је мању потрошњу меморије и већу брзину.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Шум и језик показали су се као најважнији фактори који утичу на квалитет транскрипције.</a:t>
            </a:r>
            <a:endParaRPr lang="en-US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Ово је директан одговор на истраживачко питање постављено на почетку рада.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Експерименти су показали да Faster-Whisper значајно убрзава транскрипцију и смањује меморијске захтеве без губитка тачности.</a:t>
            </a:r>
            <a:endParaRPr lang="en-US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На основу свих експеримената може се закључити да Faster-Whisper представља ефикаснију имплементацију Whisper модела.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Постиже боље перформансе уз задржавање квалитета препознавања.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Додатни експерименти показали су како величина модела, шум и језик утичу на резултате.</a:t>
            </a:r>
            <a:endParaRPr lang="en-US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0F6D8F-52A4-4325-8831-5D637055B7D3}" type="slidenum">
              <a:rPr lang="en-GB" smtClean="0"/>
            </a:fld>
            <a:endParaRPr lang="en-GB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sr-Latn-RS" altLang="en-US" sz="1200" dirty="0">
              <a:solidFill>
                <a:schemeClr val="bg2">
                  <a:lumMod val="10000"/>
                </a:schemeClr>
              </a:solidFill>
              <a:latin typeface="Calibri" panose="020F050202020403020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0F6D8F-52A4-4325-8831-5D637055B7D3}" type="slidenum">
              <a:rPr lang="en-GB" smtClean="0"/>
            </a:fld>
            <a:endParaRPr lang="en-GB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0F6D8F-52A4-4325-8831-5D637055B7D3}" type="slidenum">
              <a:rPr lang="en-GB" smtClean="0"/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6E661-2EB0-4B57-AABC-FE05B4D86A8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29490-92B9-4214-BE39-2980FDB7A3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6E661-2EB0-4B57-AABC-FE05B4D86A8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29490-92B9-4214-BE39-2980FDB7A3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6E661-2EB0-4B57-AABC-FE05B4D86A8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29490-92B9-4214-BE39-2980FDB7A3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6E661-2EB0-4B57-AABC-FE05B4D86A8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29490-92B9-4214-BE39-2980FDB7A3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6E661-2EB0-4B57-AABC-FE05B4D86A8F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29490-92B9-4214-BE39-2980FDB7A3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6E661-2EB0-4B57-AABC-FE05B4D86A8F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29490-92B9-4214-BE39-2980FDB7A3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6E661-2EB0-4B57-AABC-FE05B4D86A8F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29490-92B9-4214-BE39-2980FDB7A3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6E661-2EB0-4B57-AABC-FE05B4D86A8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29490-92B9-4214-BE39-2980FDB7A3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6E661-2EB0-4B57-AABC-FE05B4D86A8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29490-92B9-4214-BE39-2980FDB7A3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6E661-2EB0-4B57-AABC-FE05B4D86A8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29490-92B9-4214-BE39-2980FDB7A3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6E661-2EB0-4B57-AABC-FE05B4D86A8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29490-92B9-4214-BE39-2980FDB7A3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6E661-2EB0-4B57-AABC-FE05B4D86A8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29490-92B9-4214-BE39-2980FDB7A3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6E661-2EB0-4B57-AABC-FE05B4D86A8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29490-92B9-4214-BE39-2980FDB7A3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6E661-2EB0-4B57-AABC-FE05B4D86A8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29490-92B9-4214-BE39-2980FDB7A3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6E661-2EB0-4B57-AABC-FE05B4D86A8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29490-92B9-4214-BE39-2980FDB7A3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6E661-2EB0-4B57-AABC-FE05B4D86A8F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29490-92B9-4214-BE39-2980FDB7A3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6E661-2EB0-4B57-AABC-FE05B4D86A8F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29490-92B9-4214-BE39-2980FDB7A3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6E661-2EB0-4B57-AABC-FE05B4D86A8F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29490-92B9-4214-BE39-2980FDB7A3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6E661-2EB0-4B57-AABC-FE05B4D86A8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29490-92B9-4214-BE39-2980FDB7A3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6E661-2EB0-4B57-AABC-FE05B4D86A8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29490-92B9-4214-BE39-2980FDB7A3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6E661-2EB0-4B57-AABC-FE05B4D86A8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29490-92B9-4214-BE39-2980FDB7A3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6E661-2EB0-4B57-AABC-FE05B4D86A8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29490-92B9-4214-BE39-2980FDB7A3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76E661-2EB0-4B57-AABC-FE05B4D86A8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E29490-92B9-4214-BE39-2980FDB7A39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76E661-2EB0-4B57-AABC-FE05B4D86A8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E29490-92B9-4214-BE39-2980FDB7A39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9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1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5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7.jpeg"/><Relationship Id="rId1" Type="http://schemas.openxmlformats.org/officeDocument/2006/relationships/image" Target="../media/image16.jpe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304764"/>
            <a:ext cx="9144000" cy="464451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5913276"/>
            <a:ext cx="9144000" cy="25202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-464" y="6523466"/>
            <a:ext cx="9144000" cy="31719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lnSpc>
                <a:spcPct val="150000"/>
              </a:lnSpc>
            </a:pPr>
            <a:r>
              <a:rPr lang="en-US" dirty="0">
                <a:solidFill>
                  <a:srgbClr val="0A3A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jelena.nikolic@elfak.ni.ac.rs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309320"/>
            <a:ext cx="9144000" cy="216024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6165304"/>
            <a:ext cx="9144000" cy="144016"/>
          </a:xfrm>
          <a:prstGeom prst="rect">
            <a:avLst/>
          </a:prstGeom>
          <a:solidFill>
            <a:srgbClr val="003300"/>
          </a:solidFill>
          <a:ln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464" y="0"/>
            <a:ext cx="9144464" cy="12687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4"/>
          <p:cNvSpPr txBox="1">
            <a:spLocks noChangeArrowheads="1"/>
          </p:cNvSpPr>
          <p:nvPr/>
        </p:nvSpPr>
        <p:spPr bwMode="auto">
          <a:xfrm>
            <a:off x="1169725" y="139859"/>
            <a:ext cx="693066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sr-Cyrl-RS" alt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Универзитет у Нишу</a:t>
            </a:r>
            <a:endParaRPr lang="sr-Latn-RS" altLang="en-US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sr-Cyrl-RS" alt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Електронски факултет</a:t>
            </a:r>
            <a:endParaRPr lang="sr-Latn-RS" altLang="en-US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-464" y="2187835"/>
            <a:ext cx="9144463" cy="143510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ctr" defTabSz="457200">
              <a:buFont typeface="Times New Roman" panose="02020603050405020304" pitchFamily="16" charset="0"/>
              <a:buNone/>
              <a:defRPr/>
            </a:pPr>
            <a:r>
              <a:rPr lang="sr-Cyrl-RS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en-US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Faster-Whisper и CTranslate2: анализа перформанси система за аутоматско препознавање говора</a:t>
            </a:r>
            <a:r>
              <a:rPr lang="sr-Cyrl-R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endParaRPr lang="sr-Latn-R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 defTabSz="457200">
              <a:buFont typeface="Times New Roman" panose="02020603050405020304" pitchFamily="16" charset="0"/>
              <a:buNone/>
              <a:defRPr/>
            </a:pPr>
            <a:r>
              <a:rPr lang="sr-Cyrl-BA" altLang="sr-Cyrl-RS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Александар Јовановић</a:t>
            </a:r>
            <a:r>
              <a:rPr lang="sr-Cyrl-RS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sr-Cyrl-BA" altLang="sr-Cyrl-RS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2120</a:t>
            </a:r>
            <a:endParaRPr lang="sr-Cyrl-BA" altLang="sr-Cyrl-RS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588223" y="5877272"/>
            <a:ext cx="2555777" cy="55027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defTabSz="457200">
              <a:buFont typeface="Times New Roman" panose="02020603050405020304" pitchFamily="16" charset="0"/>
              <a:buNone/>
              <a:defRPr/>
            </a:pPr>
            <a:r>
              <a:rPr lang="sr-Cyrl-R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Др Јелена Николић</a:t>
            </a:r>
            <a:r>
              <a:rPr lang="sr-Latn-R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defTabSz="457200">
              <a:buFont typeface="Times New Roman" panose="02020603050405020304" pitchFamily="16" charset="0"/>
              <a:buNone/>
              <a:defRPr/>
            </a:pPr>
            <a:r>
              <a:rPr lang="sr-Cyrl-R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редовни професор</a:t>
            </a:r>
            <a:endParaRPr lang="en-GB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2008" y="5877272"/>
            <a:ext cx="2987824" cy="32130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defTabSz="457200">
              <a:buFont typeface="Times New Roman" panose="02020603050405020304" pitchFamily="16" charset="0"/>
              <a:buNone/>
              <a:defRPr/>
            </a:pPr>
            <a:r>
              <a:rPr lang="sr-Latn-R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202</a:t>
            </a:r>
            <a:r>
              <a:rPr lang="sr-Cyrl-R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6.</a:t>
            </a:r>
            <a:endParaRPr lang="en-GB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5786" y="-27109"/>
            <a:ext cx="1426679" cy="127650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0" y="5076763"/>
            <a:ext cx="91444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>
              <a:buFont typeface="Times New Roman" panose="02020603050405020304" pitchFamily="16" charset="0"/>
              <a:buNone/>
              <a:defRPr/>
            </a:pPr>
            <a:r>
              <a:rPr lang="ru-RU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Курс: Вештачка интелигенција у говорним и аудио технологијама</a:t>
            </a:r>
            <a:endParaRPr lang="ru-RU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4400"/>
            <a:ext cx="7596336" cy="9087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95537" y="1216491"/>
            <a:ext cx="8496944" cy="421576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just" defTabSz="457200" hangingPunct="1">
              <a:lnSpc>
                <a:spcPct val="100000"/>
              </a:lnSpc>
              <a:defRPr/>
            </a:pPr>
            <a:r>
              <a:rPr lang="sr-Cyrl-RS" alt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Садржина презентације</a:t>
            </a:r>
            <a:endParaRPr lang="sr-Cyrl-RS" altLang="en-US" sz="2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457200" hangingPunct="1">
              <a:lnSpc>
                <a:spcPct val="100000"/>
              </a:lnSpc>
              <a:defRPr/>
            </a:pPr>
            <a:endParaRPr lang="sr-Cyrl-R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sr-Cyrl-R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Увод</a:t>
            </a:r>
            <a:endParaRPr lang="sr-Cyrl-R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sr-Cyrl-R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Теоријске основе</a:t>
            </a:r>
            <a:endParaRPr lang="sr-Cyrl-R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sr-Cyrl-R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Whisper модел</a:t>
            </a:r>
            <a:endParaRPr lang="sr-Cyrl-R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sr-Cyrl-R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Faster-Whisper и CTranslate2</a:t>
            </a:r>
            <a:endParaRPr lang="sr-Cyrl-R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sr-Cyrl-R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Експериментално окружење</a:t>
            </a:r>
            <a:endParaRPr lang="sr-Cyrl-R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sr-Cyrl-R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Репродукција резултата</a:t>
            </a:r>
            <a:endParaRPr lang="sr-Cyrl-R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sr-Cyrl-R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Оригинални допринос</a:t>
            </a:r>
            <a:endParaRPr lang="sr-Cyrl-R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sr-Cyrl-R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Дискусија</a:t>
            </a:r>
            <a:endParaRPr lang="sr-Cyrl-R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sr-Cyrl-R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Закључак</a:t>
            </a:r>
            <a:endParaRPr lang="sr-Cyrl-R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4400"/>
            <a:ext cx="7596336" cy="9087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95537" y="1216491"/>
            <a:ext cx="8496944" cy="89154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just" defTabSz="457200" hangingPunct="1">
              <a:lnSpc>
                <a:spcPct val="100000"/>
              </a:lnSpc>
              <a:defRPr/>
            </a:pPr>
            <a:r>
              <a:rPr lang="sr-Cyrl-BA" altLang="sr-Cyrl-R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Аутоматско препознавање говора </a:t>
            </a:r>
            <a:endParaRPr lang="sr-Cyrl-R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endParaRPr lang="sr-Cyrl-R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85800" y="414505"/>
            <a:ext cx="6624736" cy="66294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ctr" defTabSz="457200">
              <a:buFont typeface="Times New Roman" panose="02020603050405020304" pitchFamily="16" charset="0"/>
              <a:buNone/>
              <a:defRPr/>
            </a:pPr>
            <a:r>
              <a:rPr lang="en-US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</a:t>
            </a:r>
            <a:r>
              <a:rPr lang="sr-Cyrl-BA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вод</a:t>
            </a:r>
            <a:endParaRPr lang="sr-Cyrl-BA" alt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434465" y="2754630"/>
            <a:ext cx="304800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говор → текст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једна од најзначајнијих AI технологија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основа савремених говорних интерфејса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7945" y="2247265"/>
            <a:ext cx="2418080" cy="37503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4400"/>
            <a:ext cx="7596336" cy="9087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95537" y="1216491"/>
            <a:ext cx="8496944" cy="279971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just" defTabSz="457200" hangingPunct="1">
              <a:lnSpc>
                <a:spcPct val="100000"/>
              </a:lnSpc>
              <a:defRPr/>
            </a:pPr>
            <a:r>
              <a:rPr lang="sr-Cyrl-RS" alt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ПРИМЕНЕ ASR СИСТЕМА</a:t>
            </a:r>
            <a:endParaRPr lang="sr-Cyrl-RS" altLang="en-US" sz="2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457200" hangingPunct="1">
              <a:lnSpc>
                <a:spcPct val="100000"/>
              </a:lnSpc>
              <a:defRPr/>
            </a:pPr>
            <a:endParaRPr lang="sr-Cyrl-RS" altLang="en-US" sz="2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виртуелни асистенти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титловање видео садржаја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транскрипција предавања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call центри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паметни уређаји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67385" y="476100"/>
            <a:ext cx="6624736" cy="112077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ctr" defTabSz="457200">
              <a:buFont typeface="Times New Roman" panose="02020603050405020304" pitchFamily="16" charset="0"/>
              <a:buNone/>
              <a:defRPr/>
            </a:pPr>
            <a:r>
              <a:rPr lang="en-US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У</a:t>
            </a:r>
            <a:r>
              <a:rPr lang="sr-Cyrl-BA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вод</a:t>
            </a:r>
            <a:endParaRPr lang="sr-Cyrl-BA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 defTabSz="457200">
              <a:buFont typeface="Times New Roman" panose="02020603050405020304" pitchFamily="16" charset="0"/>
              <a:buNone/>
              <a:defRPr/>
            </a:pPr>
            <a:endParaRPr lang="sr-Cyrl-BA" altLang="sr-Cyrl-R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27855" y="3572510"/>
            <a:ext cx="3390900" cy="18764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4400"/>
            <a:ext cx="7596336" cy="9087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95537" y="1216491"/>
            <a:ext cx="8496944" cy="243014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just" defTabSz="457200" hangingPunct="1">
              <a:lnSpc>
                <a:spcPct val="100000"/>
              </a:lnSpc>
              <a:defRPr/>
            </a:pPr>
            <a:r>
              <a:rPr lang="sr-Cyrl-RS" alt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ПРОБЛЕМ И МОТИВАЦИЈА</a:t>
            </a:r>
            <a:endParaRPr lang="sr-Cyrl-RS" altLang="en-US" sz="2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457200" hangingPunct="1">
              <a:lnSpc>
                <a:spcPct val="100000"/>
              </a:lnSpc>
              <a:defRPr/>
            </a:pPr>
            <a:endParaRPr lang="sr-Cyrl-RS" altLang="en-US" sz="2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брзина инференције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потрошња меморије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реално време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ограничени ресурси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67385" y="331955"/>
            <a:ext cx="6624736" cy="112077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ctr" defTabSz="457200">
              <a:buFont typeface="Times New Roman" panose="02020603050405020304" pitchFamily="16" charset="0"/>
              <a:buNone/>
              <a:defRPr/>
            </a:pPr>
            <a:r>
              <a:rPr lang="en-US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У</a:t>
            </a:r>
            <a:r>
              <a:rPr lang="sr-Cyrl-BA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вод</a:t>
            </a:r>
            <a:endParaRPr lang="sr-Cyrl-BA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 defTabSz="457200">
              <a:buFont typeface="Times New Roman" panose="02020603050405020304" pitchFamily="16" charset="0"/>
              <a:buNone/>
              <a:defRPr/>
            </a:pPr>
            <a:endParaRPr lang="sr-Cyrl-BA" altLang="sr-Cyrl-R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6190" y="3572510"/>
            <a:ext cx="2390775" cy="20097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4400"/>
            <a:ext cx="7596336" cy="9087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11505" y="1988820"/>
            <a:ext cx="7374890" cy="279971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just" defTabSz="457200" hangingPunct="1">
              <a:lnSpc>
                <a:spcPct val="100000"/>
              </a:lnSpc>
              <a:defRPr/>
            </a:pPr>
            <a:r>
              <a:rPr lang="sr-Cyrl-RS" alt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ИСТРАЖИВАЧКО ПИТАЊЕ</a:t>
            </a:r>
            <a:endParaRPr lang="sr-Cyrl-RS" altLang="en-US" sz="2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457200" hangingPunct="1">
              <a:lnSpc>
                <a:spcPct val="100000"/>
              </a:lnSpc>
              <a:defRPr/>
            </a:pPr>
            <a:endParaRPr lang="sr-Cyrl-RS" altLang="en-US" sz="2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0" algn="just" defTabSz="457200" hangingPunct="1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Колико Faster-Whisper и CTranslate2 убрзавају процес аутоматске транскрипције говора уз очување квалитета препознавања</a:t>
            </a:r>
            <a:r>
              <a:rPr lang="sr-Cyrl-BA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и како различити нивои позадинског шума утичу на тачност система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85800" y="414505"/>
            <a:ext cx="6624736" cy="60579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ctr" defTabSz="457200">
              <a:buFont typeface="Times New Roman" panose="02020603050405020304" pitchFamily="16" charset="0"/>
              <a:buNone/>
              <a:defRPr/>
            </a:pPr>
            <a:r>
              <a:rPr lang="sr-Cyrl-BA" altLang="sr-Cyrl-R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Увод</a:t>
            </a:r>
            <a:endParaRPr lang="sr-Cyrl-BA" altLang="sr-Cyrl-R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4400"/>
            <a:ext cx="7596336" cy="9087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95537" y="1216491"/>
            <a:ext cx="8496944" cy="35382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just" defTabSz="457200" hangingPunct="1">
              <a:lnSpc>
                <a:spcPct val="100000"/>
              </a:lnSpc>
              <a:defRPr/>
            </a:pPr>
            <a:r>
              <a:rPr lang="sr-Cyrl-RS" alt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ШТА ЈЕ ASR PIPELINE</a:t>
            </a:r>
            <a:endParaRPr lang="sr-Cyrl-RS" altLang="en-US" sz="2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457200" hangingPunct="1">
              <a:lnSpc>
                <a:spcPct val="100000"/>
              </a:lnSpc>
              <a:defRPr/>
            </a:pPr>
            <a:endParaRPr lang="sr-Cyrl-RS" altLang="en-US" sz="2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Audio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0" algn="just" defTabSz="457200" hangingPunct="1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r>
              <a:rPr lang="sr-Cyrl-BA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r-Cyrl-BA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Feature Extraction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457200" algn="just" defTabSz="457200" hangingPunct="1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r-Cyrl-BA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ASR Model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457200" algn="just" defTabSz="457200" hangingPunct="1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r>
              <a:rPr lang="sr-Cyrl-BA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↓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85800" y="414505"/>
            <a:ext cx="6624736" cy="60579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ctr" defTabSz="457200">
              <a:buFont typeface="Times New Roman" panose="02020603050405020304" pitchFamily="16" charset="0"/>
              <a:buNone/>
              <a:defRPr/>
            </a:pPr>
            <a:r>
              <a:rPr lang="sr-Cyrl-BA" altLang="sr-Cyrl-R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Теоријске основе</a:t>
            </a:r>
            <a:endParaRPr lang="sr-Cyrl-BA" altLang="sr-Cyrl-R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3845" y="2204720"/>
            <a:ext cx="1899920" cy="37382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4400"/>
            <a:ext cx="7596336" cy="9087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95537" y="1216491"/>
            <a:ext cx="8496944" cy="163004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just" defTabSz="457200" hangingPunct="1">
              <a:lnSpc>
                <a:spcPct val="100000"/>
              </a:lnSpc>
              <a:defRPr/>
            </a:pPr>
            <a:r>
              <a:rPr lang="sr-Cyrl-RS" alt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МЕТРИКЕ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WER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CER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RTF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85800" y="414505"/>
            <a:ext cx="6624736" cy="60579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ctr" defTabSz="457200">
              <a:buFont typeface="Times New Roman" panose="02020603050405020304" pitchFamily="16" charset="0"/>
              <a:buNone/>
              <a:defRPr/>
            </a:pPr>
            <a:r>
              <a:rPr lang="sr-Cyrl-BA" altLang="sr-Cyrl-R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Теоријске основе</a:t>
            </a:r>
            <a:endParaRPr 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331595" y="3068955"/>
            <a:ext cx="659638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За евалуацију система коришћене су три важне метрике.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WER представља Word Error Rate и показује проценат погрешно препознатих речи.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CER представља Character Error Rate.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RTF означава однос времена транскрипције и трајања аудио сигнала.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У овом раду највећи значај имају WER и време извршавања.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4400"/>
            <a:ext cx="7596336" cy="9087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95537" y="1216491"/>
            <a:ext cx="8496944" cy="359981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just" defTabSz="457200" hangingPunct="1">
              <a:lnSpc>
                <a:spcPct val="100000"/>
              </a:lnSpc>
              <a:defRPr/>
            </a:pPr>
            <a:r>
              <a:rPr lang="sr-Cyrl-RS" alt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WER МЕТРИКА</a:t>
            </a:r>
            <a:r>
              <a:rPr lang="sr-Cyrl-BA" altLang="sr-Cyrl-R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sr-Cyrl-BA" altLang="sr-Cyrl-RS" sz="2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457200" hangingPunct="1">
              <a:lnSpc>
                <a:spcPct val="100000"/>
              </a:lnSpc>
              <a:defRPr/>
            </a:pPr>
            <a:endParaRPr lang="sr-Cyrl-BA" altLang="sr-Cyrl-RS" sz="2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457200" hangingPunct="1">
              <a:lnSpc>
                <a:spcPct val="100000"/>
              </a:lnSpc>
              <a:defRPr/>
            </a:pPr>
            <a:r>
              <a:rPr lang="sr-Cyrl-BA" altLang="sr-Cyrl-R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WER=N</a:t>
            </a:r>
            <a:r>
              <a:rPr lang="sr-Cyrl-BA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/(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S+D+I</a:t>
            </a:r>
            <a:r>
              <a:rPr lang="sr-Cyrl-BA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sr-Cyrl-BA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 – замене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 – брисања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 – уметања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 – укупан број речи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0" algn="just" defTabSz="457200" hangingPunct="1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​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85800" y="414505"/>
            <a:ext cx="6624736" cy="60579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ctr" defTabSz="457200">
              <a:buFont typeface="Times New Roman" panose="02020603050405020304" pitchFamily="16" charset="0"/>
              <a:buNone/>
              <a:defRPr/>
            </a:pPr>
            <a:r>
              <a:rPr lang="sr-Cyrl-BA" altLang="sr-Cyrl-R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Теоријске основе</a:t>
            </a:r>
            <a:endParaRPr 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4400"/>
            <a:ext cx="7596336" cy="9087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95537" y="1216491"/>
            <a:ext cx="8496944" cy="243014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marL="355600" indent="0" algn="just" defTabSz="457200" hangingPunct="1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r>
              <a:rPr lang="sr-Cyrl-RS" altLang="en-US" sz="2800" b="1" dirty="0">
                <a:solidFill>
                  <a:srgbClr val="C00000"/>
                </a:solidFill>
                <a:cs typeface="Arial" panose="020B0604020202020204" pitchFamily="34" charset="0"/>
                <a:sym typeface="+mn-ea"/>
              </a:rPr>
              <a:t>TRANSFORMER АРХИТЕКТУРА</a:t>
            </a:r>
            <a:endParaRPr lang="sr-Cyrl-RS" altLang="en-US" sz="2800" b="1" dirty="0">
              <a:solidFill>
                <a:srgbClr val="C00000"/>
              </a:solidFill>
              <a:cs typeface="Arial" panose="020B0604020202020204" pitchFamily="34" charset="0"/>
              <a:sym typeface="+mn-ea"/>
            </a:endParaRPr>
          </a:p>
          <a:p>
            <a:pPr marL="355600" indent="0" algn="just" defTabSz="457200" hangingPunct="1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endParaRPr lang="en-US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Encoder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Decoder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Self-Attention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Positional Encoding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85800" y="414505"/>
            <a:ext cx="6624736" cy="60579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ctr" defTabSz="457200">
              <a:buFont typeface="Times New Roman" panose="02020603050405020304" pitchFamily="16" charset="0"/>
              <a:buNone/>
              <a:defRPr/>
            </a:pPr>
            <a:r>
              <a:rPr lang="sr-Cyrl-BA" altLang="sr-Cyrl-R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Теоријске основе</a:t>
            </a:r>
            <a:endParaRPr 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4390" y="2929890"/>
            <a:ext cx="3476625" cy="32023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4400"/>
            <a:ext cx="7596336" cy="9087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95537" y="1216491"/>
            <a:ext cx="8496944" cy="279971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just" defTabSz="457200" hangingPunct="1">
              <a:lnSpc>
                <a:spcPct val="100000"/>
              </a:lnSpc>
              <a:defRPr/>
            </a:pPr>
            <a:r>
              <a:rPr lang="sr-Cyrl-RS" alt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SELF-ATTENTION МЕХАНИЗАМ</a:t>
            </a:r>
            <a:endParaRPr lang="sr-Cyrl-RS" altLang="en-US" sz="2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457200" hangingPunct="1">
              <a:lnSpc>
                <a:spcPct val="100000"/>
              </a:lnSpc>
              <a:defRPr/>
            </a:pPr>
            <a:endParaRPr lang="sr-Cyrl-RS" altLang="en-US" sz="2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Query (Q)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Key (K)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Value (V)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одређује важност информација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омогућава моделу да сагледа цео контекст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85800" y="414505"/>
            <a:ext cx="6624736" cy="60579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ctr" defTabSz="457200">
              <a:buFont typeface="Times New Roman" panose="02020603050405020304" pitchFamily="16" charset="0"/>
              <a:buNone/>
              <a:defRPr/>
            </a:pPr>
            <a:r>
              <a:rPr lang="sr-Cyrl-BA" altLang="sr-Cyrl-R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Теоријске основе</a:t>
            </a:r>
            <a:endParaRPr 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4400"/>
            <a:ext cx="7596336" cy="9087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95537" y="1216491"/>
            <a:ext cx="8496944" cy="384619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just" defTabSz="457200" hangingPunct="1">
              <a:lnSpc>
                <a:spcPct val="100000"/>
              </a:lnSpc>
              <a:defRPr/>
            </a:pPr>
            <a:r>
              <a:rPr lang="sr-Cyrl-RS" alt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WHISPER МОДЕЛ</a:t>
            </a:r>
            <a:endParaRPr lang="sr-Cyrl-RS" altLang="en-US" sz="2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457200" hangingPunct="1">
              <a:lnSpc>
                <a:spcPct val="100000"/>
              </a:lnSpc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Whisper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OpenAI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end-to-end ASR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multilingual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speech-to-text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speech translation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85800" y="414505"/>
            <a:ext cx="6624736" cy="60579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ctr" defTabSz="457200">
              <a:buFont typeface="Times New Roman" panose="02020603050405020304" pitchFamily="16" charset="0"/>
              <a:buNone/>
              <a:defRPr/>
            </a:pPr>
            <a:r>
              <a:rPr lang="sr-Cyrl-BA" altLang="sr-Cyrl-R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Модели</a:t>
            </a:r>
            <a:endParaRPr lang="sr-Cyrl-BA" altLang="sr-Cyrl-R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4400"/>
            <a:ext cx="7596336" cy="9087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95537" y="1216491"/>
            <a:ext cx="8496944" cy="427672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just" defTabSz="457200" hangingPunct="1">
              <a:lnSpc>
                <a:spcPct val="100000"/>
              </a:lnSpc>
              <a:defRPr/>
            </a:pPr>
            <a:r>
              <a:rPr lang="sr-Cyrl-RS" alt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ОБРАДА АУДИО СИГНАЛА У WHISPER-У</a:t>
            </a:r>
            <a:endParaRPr lang="sr-Cyrl-RS" altLang="en-US" sz="2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457200" hangingPunct="1">
              <a:lnSpc>
                <a:spcPct val="100000"/>
              </a:lnSpc>
              <a:defRPr/>
            </a:pPr>
            <a:endParaRPr lang="sr-Cyrl-RS" altLang="en-US" sz="2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Audio WAV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457200" algn="just" defTabSz="457200" hangingPunct="1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↓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Log-Mel Spectrogram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0" algn="just" defTabSz="457200" hangingPunct="1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r>
              <a:rPr lang="sr-Cyrl-BA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↓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Encoder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0" algn="just" defTabSz="457200" hangingPunct="1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r>
              <a:rPr lang="sr-Cyrl-BA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↓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Decoder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0" algn="just" defTabSz="457200" hangingPunct="1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r>
              <a:rPr lang="sr-Cyrl-BA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↓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85800" y="414505"/>
            <a:ext cx="6624736" cy="60579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ctr" defTabSz="457200">
              <a:buFont typeface="Times New Roman" panose="02020603050405020304" pitchFamily="16" charset="0"/>
              <a:buNone/>
              <a:defRPr/>
            </a:pPr>
            <a:r>
              <a:rPr lang="sr-Cyrl-BA" altLang="sr-Cyrl-R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Модели</a:t>
            </a:r>
            <a:endParaRPr 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4400"/>
            <a:ext cx="7596336" cy="9087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95537" y="1216491"/>
            <a:ext cx="8496944" cy="279971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just" defTabSz="457200" hangingPunct="1">
              <a:lnSpc>
                <a:spcPct val="100000"/>
              </a:lnSpc>
              <a:defRPr/>
            </a:pPr>
            <a:r>
              <a:rPr lang="sr-Cyrl-RS" alt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ТРЕНИНГ СКУП</a:t>
            </a:r>
            <a:endParaRPr lang="sr-Cyrl-RS" altLang="en-US" sz="2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457200" hangingPunct="1">
              <a:lnSpc>
                <a:spcPct val="100000"/>
              </a:lnSpc>
              <a:defRPr/>
            </a:pPr>
            <a:endParaRPr lang="sr-Cyrl-RS" altLang="en-US" sz="2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0" algn="just" defTabSz="457200" hangingPunct="1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Whisper Training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680.000 сати аудио записа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више језика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weak supervision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интернет извори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85800" y="414505"/>
            <a:ext cx="6624736" cy="60579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ctr" defTabSz="457200">
              <a:buFont typeface="Times New Roman" panose="02020603050405020304" pitchFamily="16" charset="0"/>
              <a:buNone/>
              <a:defRPr/>
            </a:pPr>
            <a:r>
              <a:rPr lang="sr-Cyrl-BA" altLang="sr-Cyrl-R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Модели</a:t>
            </a:r>
            <a:endParaRPr 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4400"/>
            <a:ext cx="7596336" cy="9087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95537" y="1216491"/>
            <a:ext cx="8496944" cy="89154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just" defTabSz="457200" hangingPunct="1">
              <a:lnSpc>
                <a:spcPct val="100000"/>
              </a:lnSpc>
              <a:defRPr/>
            </a:pPr>
            <a:r>
              <a:rPr lang="sr-Cyrl-RS" alt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WHISPER МОДЕЛИ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endParaRPr lang="sr-Cyrl-R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85800" y="414505"/>
            <a:ext cx="6624736" cy="60579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ctr" defTabSz="457200">
              <a:buFont typeface="Times New Roman" panose="02020603050405020304" pitchFamily="16" charset="0"/>
              <a:buNone/>
              <a:defRPr/>
            </a:pPr>
            <a:r>
              <a:rPr lang="sr-Cyrl-BA" altLang="sr-Cyrl-R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Модели</a:t>
            </a:r>
            <a:endParaRPr 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4392295" y="435165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graphicFrame>
        <p:nvGraphicFramePr>
          <p:cNvPr id="17" name="Table 16"/>
          <p:cNvGraphicFramePr/>
          <p:nvPr/>
        </p:nvGraphicFramePr>
        <p:xfrm>
          <a:off x="668655" y="2467610"/>
          <a:ext cx="7863840" cy="2194560"/>
        </p:xfrm>
        <a:graphic>
          <a:graphicData uri="http://schemas.openxmlformats.org/drawingml/2006/table">
            <a:tbl>
              <a:tblPr/>
              <a:tblGrid>
                <a:gridCol w="3931920"/>
                <a:gridCol w="3931920"/>
              </a:tblGrid>
              <a:tr h="0">
                <a:tc>
                  <a:txBody>
                    <a:bodyPr/>
                    <a:p>
                      <a:r>
                        <a:rPr sz="2400"/>
                        <a:t>Модел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/>
                        <a:t>Параметри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2400"/>
                        <a:t>tiny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/>
                        <a:t>39 M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2400"/>
                        <a:t>base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/>
                        <a:t>74 M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2400"/>
                        <a:t>small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/>
                        <a:t>244 M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2400"/>
                        <a:t>medium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/>
                        <a:t>769 M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2400"/>
                        <a:t>large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/>
                        <a:t>1550 M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4400"/>
            <a:ext cx="7596336" cy="9087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95537" y="1216491"/>
            <a:ext cx="8496944" cy="421576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just" defTabSz="457200" hangingPunct="1">
              <a:lnSpc>
                <a:spcPct val="100000"/>
              </a:lnSpc>
              <a:defRPr/>
            </a:pPr>
            <a:r>
              <a:rPr lang="sr-Cyrl-RS" alt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ПРЕДНОСТИ И ОГРАНИЧЕЊА WHISPER-А</a:t>
            </a:r>
            <a:endParaRPr lang="sr-Cyrl-RS" altLang="en-US" sz="2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457200" hangingPunct="1">
              <a:lnSpc>
                <a:spcPct val="100000"/>
              </a:lnSpc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0" algn="just" defTabSz="457200" hangingPunct="1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Предности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висока тачност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више језика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робусност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0" algn="just" defTabSz="457200" hangingPunct="1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Ограничења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велика меморија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спорија инференција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захтеван за CPU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85800" y="414505"/>
            <a:ext cx="6624736" cy="60579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ctr" defTabSz="457200">
              <a:buFont typeface="Times New Roman" panose="02020603050405020304" pitchFamily="16" charset="0"/>
              <a:buNone/>
              <a:defRPr/>
            </a:pPr>
            <a:r>
              <a:rPr lang="sr-Cyrl-BA" altLang="sr-Cyrl-R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Модели</a:t>
            </a:r>
            <a:endParaRPr 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4400"/>
            <a:ext cx="7596336" cy="9087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95537" y="1216491"/>
            <a:ext cx="8496944" cy="243014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just" defTabSz="457200" hangingPunct="1">
              <a:lnSpc>
                <a:spcPct val="100000"/>
              </a:lnSpc>
              <a:defRPr/>
            </a:pPr>
            <a:r>
              <a:rPr lang="sr-Cyrl-RS" alt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FASTER-WHISPER</a:t>
            </a:r>
            <a:endParaRPr lang="sr-Cyrl-RS" altLang="en-US" sz="2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457200" hangingPunct="1">
              <a:lnSpc>
                <a:spcPct val="100000"/>
              </a:lnSpc>
              <a:defRPr/>
            </a:pPr>
            <a:endParaRPr lang="sr-Cyrl-RS" altLang="en-US" sz="2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0" algn="just" defTabSz="457200" hangingPunct="1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Faster-Whisper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SYSTRAN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CTranslate2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оптимизована инференција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85800" y="414505"/>
            <a:ext cx="6624736" cy="60579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ctr" defTabSz="457200">
              <a:buFont typeface="Times New Roman" panose="02020603050405020304" pitchFamily="16" charset="0"/>
              <a:buNone/>
              <a:defRPr/>
            </a:pPr>
            <a:r>
              <a:rPr lang="sr-Cyrl-BA" altLang="sr-Cyrl-R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Модели</a:t>
            </a:r>
            <a:endParaRPr 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4400"/>
            <a:ext cx="7596336" cy="9087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95537" y="1216491"/>
            <a:ext cx="8496944" cy="310769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just" defTabSz="457200" hangingPunct="1">
              <a:lnSpc>
                <a:spcPct val="100000"/>
              </a:lnSpc>
              <a:defRPr/>
            </a:pPr>
            <a:r>
              <a:rPr lang="sr-Cyrl-RS" alt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ШТА ЈЕ CTRANSLATE2?</a:t>
            </a:r>
            <a:endParaRPr lang="sr-Cyrl-RS" altLang="en-US" sz="2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457200" hangingPunct="1">
              <a:lnSpc>
                <a:spcPct val="100000"/>
              </a:lnSpc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0" algn="just" defTabSz="457200" hangingPunct="1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CTranslate2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inference engine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Transformer оптимизације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CPU и GPU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INT8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FP16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85800" y="414505"/>
            <a:ext cx="6624736" cy="60579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ctr" defTabSz="457200">
              <a:buFont typeface="Times New Roman" panose="02020603050405020304" pitchFamily="16" charset="0"/>
              <a:buNone/>
              <a:defRPr/>
            </a:pPr>
            <a:r>
              <a:rPr lang="sr-Cyrl-BA" altLang="sr-Cyrl-R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Модели</a:t>
            </a:r>
            <a:endParaRPr 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4400"/>
            <a:ext cx="7596336" cy="9087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95537" y="1216491"/>
            <a:ext cx="8496944" cy="27381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just" defTabSz="457200" hangingPunct="1">
              <a:lnSpc>
                <a:spcPct val="100000"/>
              </a:lnSpc>
              <a:defRPr/>
            </a:pPr>
            <a:r>
              <a:rPr lang="sr-Cyrl-RS" alt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КВАНТИЗАЦИЈА</a:t>
            </a:r>
            <a:endParaRPr lang="sr-Cyrl-RS" altLang="en-US" sz="2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457200" hangingPunct="1">
              <a:lnSpc>
                <a:spcPct val="100000"/>
              </a:lnSpc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FP32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457200" algn="just" defTabSz="457200" hangingPunct="1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↓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FP16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457200" algn="just" defTabSz="457200" hangingPunct="1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↓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INT8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85800" y="414505"/>
            <a:ext cx="6624736" cy="60579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ctr" defTabSz="457200">
              <a:buFont typeface="Times New Roman" panose="02020603050405020304" pitchFamily="16" charset="0"/>
              <a:buNone/>
              <a:defRPr/>
            </a:pPr>
            <a:r>
              <a:rPr lang="sr-Cyrl-BA" altLang="sr-Cyrl-R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Модели</a:t>
            </a:r>
            <a:endParaRPr 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4400"/>
            <a:ext cx="7596336" cy="9087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95537" y="1216491"/>
            <a:ext cx="8496944" cy="89154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just" defTabSz="457200" hangingPunct="1">
              <a:lnSpc>
                <a:spcPct val="100000"/>
              </a:lnSpc>
              <a:defRPr/>
            </a:pPr>
            <a:r>
              <a:rPr lang="sr-Cyrl-RS" alt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WHISPER VS FASTER-WHISPER</a:t>
            </a:r>
            <a:endParaRPr lang="sr-Cyrl-RS" altLang="en-US" sz="2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endParaRPr lang="sr-Cyrl-R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85800" y="414505"/>
            <a:ext cx="6624736" cy="60579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ctr" defTabSz="457200">
              <a:buFont typeface="Times New Roman" panose="02020603050405020304" pitchFamily="16" charset="0"/>
              <a:buNone/>
              <a:defRPr/>
            </a:pPr>
            <a:r>
              <a:rPr lang="sr-Cyrl-BA" altLang="sr-Cyrl-R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Модели</a:t>
            </a:r>
            <a:endParaRPr 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Table 3"/>
          <p:cNvGraphicFramePr/>
          <p:nvPr/>
        </p:nvGraphicFramePr>
        <p:xfrm>
          <a:off x="640080" y="2926080"/>
          <a:ext cx="7863840" cy="0"/>
        </p:xfrm>
        <a:graphic>
          <a:graphicData uri="http://schemas.openxmlformats.org/drawingml/2006/table">
            <a:tbl>
              <a:tblPr/>
              <a:tblGrid>
                <a:gridCol w="2621280"/>
                <a:gridCol w="2621280"/>
                <a:gridCol w="2621280"/>
              </a:tblGrid>
              <a:tr h="0"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Карактеристика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Whisper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Faster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Архитектура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Иста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Иста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Тежине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Исте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Исте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Тачност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Иста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Иста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Брзина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Мања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Већа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RAM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Већи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Мањи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4400"/>
            <a:ext cx="7596336" cy="9087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95537" y="1216491"/>
            <a:ext cx="8496944" cy="421576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just" defTabSz="457200" hangingPunct="1">
              <a:lnSpc>
                <a:spcPct val="100000"/>
              </a:lnSpc>
              <a:defRPr/>
            </a:pPr>
            <a:r>
              <a:rPr lang="sr-Cyrl-RS" alt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ЕКСПЕРИМЕНТАЛНО ОКРУЖЕЊЕ</a:t>
            </a:r>
            <a:endParaRPr lang="sr-Cyrl-RS" altLang="en-US" sz="2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0" algn="just" defTabSz="457200" hangingPunct="1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Хардвер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CPU: </a:t>
            </a:r>
            <a:r>
              <a:rPr lang="en-US" altLang="en-US" sz="2100" dirty="0">
                <a:latin typeface="Arial" panose="020B0604020202020204" pitchFamily="34" charset="0"/>
                <a:cs typeface="Arial" panose="020B0604020202020204" pitchFamily="34" charset="0"/>
              </a:rPr>
              <a:t>AMD Ryzen 5 5600H with Radeon Graphics 3.30 GHz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RAM: </a:t>
            </a:r>
            <a:r>
              <a:rPr lang="sr-Latn-R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8gb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Windows 10/11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0" algn="just" defTabSz="457200" hangingPunct="1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Софтвер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Whisper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Faster-Whisper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CTranslate2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85800" y="414505"/>
            <a:ext cx="6624736" cy="60579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ctr" defTabSz="457200">
              <a:buFont typeface="Times New Roman" panose="02020603050405020304" pitchFamily="16" charset="0"/>
              <a:buNone/>
              <a:defRPr/>
            </a:pPr>
            <a:r>
              <a:rPr lang="sr-Cyrl-BA" altLang="sr-Cyrl-R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Експерименти</a:t>
            </a:r>
            <a:endParaRPr 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4400"/>
            <a:ext cx="7596336" cy="9087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95537" y="1216491"/>
            <a:ext cx="8496944" cy="89154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just" defTabSz="457200" hangingPunct="1">
              <a:lnSpc>
                <a:spcPct val="100000"/>
              </a:lnSpc>
              <a:defRPr/>
            </a:pPr>
            <a:r>
              <a:rPr lang="sr-Cyrl-RS" alt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АУДИО СКУП ПОДАТАКА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0" algn="just" defTabSz="457200" hangingPunct="1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85800" y="414505"/>
            <a:ext cx="6624736" cy="60579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ctr" defTabSz="457200">
              <a:buFont typeface="Times New Roman" panose="02020603050405020304" pitchFamily="16" charset="0"/>
              <a:buNone/>
              <a:defRPr/>
            </a:pPr>
            <a:r>
              <a:rPr lang="sr-Cyrl-BA" altLang="sr-Cyrl-R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Експерименти</a:t>
            </a:r>
            <a:endParaRPr 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3168015" y="343344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graphicFrame>
        <p:nvGraphicFramePr>
          <p:cNvPr id="15" name="Table 14"/>
          <p:cNvGraphicFramePr/>
          <p:nvPr/>
        </p:nvGraphicFramePr>
        <p:xfrm>
          <a:off x="640080" y="3093720"/>
          <a:ext cx="7863840" cy="0"/>
        </p:xfrm>
        <a:graphic>
          <a:graphicData uri="http://schemas.openxmlformats.org/drawingml/2006/table">
            <a:tbl>
              <a:tblPr/>
              <a:tblGrid>
                <a:gridCol w="3931920"/>
                <a:gridCol w="3931920"/>
              </a:tblGrid>
              <a:tr h="0">
                <a:tc>
                  <a:txBody>
                    <a:bodyPr/>
                    <a:p>
                      <a:r>
                        <a:rPr sz="2400"/>
                        <a:t>Фајл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Трајање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2400"/>
                        <a:t>govor10.wav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/>
                        <a:t>11.06 s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2400"/>
                        <a:t>govor30.wav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/>
                        <a:t>24.89 s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2400"/>
                        <a:t>govor60.wav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/>
                        <a:t>66.65 s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4400"/>
            <a:ext cx="7596336" cy="9087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95537" y="1216491"/>
            <a:ext cx="8496944" cy="126047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just" defTabSz="457200" hangingPunct="1">
              <a:lnSpc>
                <a:spcPct val="100000"/>
              </a:lnSpc>
              <a:defRPr/>
            </a:pPr>
            <a:r>
              <a:rPr lang="sr-Cyrl-RS" alt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ORIGINAL WHISPER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0" algn="just" defTabSz="457200" hangingPunct="1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85800" y="414505"/>
            <a:ext cx="6624736" cy="66294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ctr" defTabSz="457200">
              <a:buFont typeface="Times New Roman" panose="02020603050405020304" pitchFamily="16" charset="0"/>
              <a:buNone/>
              <a:defRPr/>
            </a:pPr>
            <a:r>
              <a:rPr lang="en-US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</a:t>
            </a:r>
            <a:r>
              <a:rPr lang="sr-Cyrl-BA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ксперимент</a:t>
            </a:r>
            <a:r>
              <a:rPr lang="en-US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1</a:t>
            </a:r>
            <a:endParaRPr lang="en-US" alt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Text Box 18"/>
          <p:cNvSpPr txBox="1"/>
          <p:nvPr/>
        </p:nvSpPr>
        <p:spPr>
          <a:xfrm>
            <a:off x="3904615" y="336613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graphicFrame>
        <p:nvGraphicFramePr>
          <p:cNvPr id="20" name="Table 19"/>
          <p:cNvGraphicFramePr/>
          <p:nvPr/>
        </p:nvGraphicFramePr>
        <p:xfrm>
          <a:off x="640080" y="3093720"/>
          <a:ext cx="7863840" cy="0"/>
        </p:xfrm>
        <a:graphic>
          <a:graphicData uri="http://schemas.openxmlformats.org/drawingml/2006/table">
            <a:tbl>
              <a:tblPr/>
              <a:tblGrid>
                <a:gridCol w="2621280"/>
                <a:gridCol w="2601595"/>
                <a:gridCol w="2640965"/>
              </a:tblGrid>
              <a:tr h="0"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Аудио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Трајање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Време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govor10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11.06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2.35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govor30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24.89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2.50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govor60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66.65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6.53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4400"/>
            <a:ext cx="7596336" cy="9087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95537" y="1216491"/>
            <a:ext cx="8496944" cy="310769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just" defTabSz="457200" hangingPunct="1">
              <a:lnSpc>
                <a:spcPct val="100000"/>
              </a:lnSpc>
              <a:defRPr/>
            </a:pPr>
            <a:r>
              <a:rPr lang="sr-Cyrl-RS" alt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АНАЛИЗА ORIGINAL WHISPER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0" algn="just" defTabSz="457200" hangingPunct="1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Запажања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0" algn="just" defTabSz="457200" hangingPunct="1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✅ успешна транскрипција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0" algn="just" defTabSz="457200" hangingPunct="1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✅ стабилан рад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0" algn="just" defTabSz="457200" hangingPunct="1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✅ време расте са дужином сигнала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85800" y="414505"/>
            <a:ext cx="6624736" cy="60579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ctr" defTabSz="457200">
              <a:buFont typeface="Times New Roman" panose="02020603050405020304" pitchFamily="16" charset="0"/>
              <a:buNone/>
              <a:defRPr/>
            </a:pPr>
            <a:r>
              <a:rPr lang="sr-Cyrl-BA" altLang="sr-Cyrl-R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Експеримент 1</a:t>
            </a:r>
            <a:endParaRPr lang="sr-Cyrl-BA" altLang="sr-Cyrl-R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4400"/>
            <a:ext cx="7596336" cy="9087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95537" y="1216491"/>
            <a:ext cx="8496944" cy="126047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just" defTabSz="457200" hangingPunct="1">
              <a:lnSpc>
                <a:spcPct val="100000"/>
              </a:lnSpc>
              <a:defRPr/>
            </a:pPr>
            <a:r>
              <a:rPr lang="sr-Cyrl-RS" alt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КВАНТИЗАЦИЈА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0" algn="just" defTabSz="457200" hangingPunct="1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85800" y="414505"/>
            <a:ext cx="6624736" cy="60579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ctr" defTabSz="457200">
              <a:buFont typeface="Times New Roman" panose="02020603050405020304" pitchFamily="16" charset="0"/>
              <a:buNone/>
              <a:defRPr/>
            </a:pPr>
            <a:r>
              <a:rPr lang="sr-Cyrl-BA" altLang="sr-Cyrl-R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Експеримент 2</a:t>
            </a:r>
            <a:endParaRPr lang="sr-Cyrl-BA" altLang="sr-Cyrl-R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15" name="Table 14"/>
          <p:cNvGraphicFramePr/>
          <p:nvPr/>
        </p:nvGraphicFramePr>
        <p:xfrm>
          <a:off x="640080" y="3093720"/>
          <a:ext cx="7863840" cy="0"/>
        </p:xfrm>
        <a:graphic>
          <a:graphicData uri="http://schemas.openxmlformats.org/drawingml/2006/table">
            <a:tbl>
              <a:tblPr/>
              <a:tblGrid>
                <a:gridCol w="2621280"/>
                <a:gridCol w="2621280"/>
                <a:gridCol w="2621280"/>
              </a:tblGrid>
              <a:tr h="0">
                <a:tc>
                  <a:txBody>
                    <a:bodyPr/>
                    <a:p>
                      <a:r>
                        <a:rPr sz="2400"/>
                        <a:t>Аудио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/>
                        <a:t>Трајање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/>
                        <a:t>Време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2400"/>
                        <a:t>govor10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/>
                        <a:t>11.06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/>
                        <a:t>1.20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2400"/>
                        <a:t>govor30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/>
                        <a:t>24.89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/>
                        <a:t>1.58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2400"/>
                        <a:t>govor60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/>
                        <a:t>66.65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/>
                        <a:t>4.90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36195" y="260270"/>
            <a:ext cx="7596336" cy="9087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95537" y="1216491"/>
            <a:ext cx="8496944" cy="347662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just" defTabSz="457200" hangingPunct="1">
              <a:lnSpc>
                <a:spcPct val="100000"/>
              </a:lnSpc>
              <a:defRPr/>
            </a:pPr>
            <a:r>
              <a:rPr lang="sr-Cyrl-RS" alt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АНАЛИЗА FASTER-WHISPER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0" algn="just" defTabSz="457200" hangingPunct="1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0" algn="just" defTabSz="457200" hangingPunct="1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Запажања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0" algn="just" defTabSz="457200" hangingPunct="1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0" algn="just" defTabSz="457200" hangingPunct="1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✅ бржа транскрипција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0" algn="just" defTabSz="457200" hangingPunct="1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0" algn="just" defTabSz="457200" hangingPunct="1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✅ исти модел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0" algn="just" defTabSz="457200" hangingPunct="1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0" algn="just" defTabSz="457200" hangingPunct="1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✅ INT8 квантизација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85800" y="414505"/>
            <a:ext cx="6624736" cy="60579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ctr" defTabSz="457200">
              <a:buFont typeface="Times New Roman" panose="02020603050405020304" pitchFamily="16" charset="0"/>
              <a:buNone/>
              <a:defRPr/>
            </a:pPr>
            <a:r>
              <a:rPr lang="sr-Cyrl-BA" altLang="sr-Cyrl-R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Експеримент 2</a:t>
            </a:r>
            <a:endParaRPr lang="sr-Cyrl-BA" altLang="sr-Cyrl-R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4400"/>
            <a:ext cx="7596336" cy="9087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95537" y="1216491"/>
            <a:ext cx="8496944" cy="126047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just" defTabSz="457200" hangingPunct="1">
              <a:lnSpc>
                <a:spcPct val="100000"/>
              </a:lnSpc>
              <a:defRPr/>
            </a:pPr>
            <a:r>
              <a:rPr lang="sr-Cyrl-RS" alt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ПОРЕЂЕЊЕ ВРЕМЕНА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0" algn="just" defTabSz="457200" hangingPunct="1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0" algn="just" defTabSz="457200" hangingPunct="1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85800" y="414505"/>
            <a:ext cx="6624736" cy="60579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ctr" defTabSz="457200">
              <a:buFont typeface="Times New Roman" panose="02020603050405020304" pitchFamily="16" charset="0"/>
              <a:buNone/>
              <a:defRPr/>
            </a:pPr>
            <a:r>
              <a:rPr lang="sr-Cyrl-BA" altLang="sr-Cyrl-R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Експеримент 3</a:t>
            </a:r>
            <a:endParaRPr lang="sr-Cyrl-BA" altLang="sr-Cyrl-R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3971290" y="356679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graphicFrame>
        <p:nvGraphicFramePr>
          <p:cNvPr id="15" name="Table 14"/>
          <p:cNvGraphicFramePr/>
          <p:nvPr/>
        </p:nvGraphicFramePr>
        <p:xfrm>
          <a:off x="640080" y="3093720"/>
          <a:ext cx="7863840" cy="0"/>
        </p:xfrm>
        <a:graphic>
          <a:graphicData uri="http://schemas.openxmlformats.org/drawingml/2006/table">
            <a:tbl>
              <a:tblPr/>
              <a:tblGrid>
                <a:gridCol w="2621280"/>
                <a:gridCol w="2621280"/>
                <a:gridCol w="2621280"/>
              </a:tblGrid>
              <a:tr h="0"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Аудио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Whisper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Faster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govor10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2.35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1.20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govor30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2.50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1.58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govor60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6.53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4.90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4400"/>
            <a:ext cx="7596336" cy="9087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95537" y="1216491"/>
            <a:ext cx="8496944" cy="163004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just" defTabSz="457200" hangingPunct="1">
              <a:lnSpc>
                <a:spcPct val="100000"/>
              </a:lnSpc>
              <a:defRPr/>
            </a:pPr>
            <a:r>
              <a:rPr lang="sr-Cyrl-RS" alt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ГРАФИК ВРЕМЕНА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0" algn="just" defTabSz="457200" hangingPunct="1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0" algn="just" defTabSz="457200" hangingPunct="1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0" algn="just" defTabSz="457200" hangingPunct="1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85800" y="414505"/>
            <a:ext cx="6624736" cy="60579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ctr" defTabSz="457200">
              <a:buFont typeface="Times New Roman" panose="02020603050405020304" pitchFamily="16" charset="0"/>
              <a:buNone/>
              <a:defRPr/>
            </a:pPr>
            <a:r>
              <a:rPr lang="sr-Cyrl-BA" altLang="sr-Cyrl-R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Експеримент 3</a:t>
            </a:r>
            <a:endParaRPr lang="sr-Cyrl-BA" altLang="sr-Cyrl-R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160" y="2204720"/>
            <a:ext cx="7191375" cy="368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4400"/>
            <a:ext cx="7596336" cy="9087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95537" y="1216491"/>
            <a:ext cx="8496944" cy="126047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just" defTabSz="457200" hangingPunct="1">
              <a:lnSpc>
                <a:spcPct val="100000"/>
              </a:lnSpc>
              <a:defRPr/>
            </a:pPr>
            <a:r>
              <a:rPr lang="sr-Cyrl-RS" alt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RAM ПОТРОШЊА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0" algn="just" defTabSz="457200" hangingPunct="1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0" algn="just" defTabSz="457200" hangingPunct="1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85800" y="414505"/>
            <a:ext cx="6624736" cy="60579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ctr" defTabSz="457200">
              <a:buFont typeface="Times New Roman" panose="02020603050405020304" pitchFamily="16" charset="0"/>
              <a:buNone/>
              <a:defRPr/>
            </a:pPr>
            <a:r>
              <a:rPr lang="sr-Cyrl-BA" altLang="sr-Cyrl-R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Експеримент 4</a:t>
            </a:r>
            <a:endParaRPr lang="sr-Cyrl-BA" altLang="sr-Cyrl-R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4143375" y="370078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graphicFrame>
        <p:nvGraphicFramePr>
          <p:cNvPr id="14" name="Table 13"/>
          <p:cNvGraphicFramePr/>
          <p:nvPr/>
        </p:nvGraphicFramePr>
        <p:xfrm>
          <a:off x="640080" y="3177540"/>
          <a:ext cx="7863840" cy="0"/>
        </p:xfrm>
        <a:graphic>
          <a:graphicData uri="http://schemas.openxmlformats.org/drawingml/2006/table">
            <a:tbl>
              <a:tblPr/>
              <a:tblGrid>
                <a:gridCol w="3931920"/>
                <a:gridCol w="3931920"/>
              </a:tblGrid>
              <a:tr h="0"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Модел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RAM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Whisper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422.80 MB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Faster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113.64 MB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4400"/>
            <a:ext cx="7596336" cy="9087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95537" y="1216491"/>
            <a:ext cx="8496944" cy="421576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just" defTabSz="457200" hangingPunct="1">
              <a:lnSpc>
                <a:spcPct val="100000"/>
              </a:lnSpc>
              <a:defRPr/>
            </a:pPr>
            <a:r>
              <a:rPr lang="sr-Cyrl-RS" alt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RAM</a:t>
            </a:r>
            <a:r>
              <a:rPr lang="sr-Cyrl-BA" altLang="sr-Cyrl-R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r-Cyrl-RS" alt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АНАЛИЗА</a:t>
            </a:r>
            <a:endParaRPr lang="sr-Cyrl-RS" altLang="en-US" sz="2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457200" hangingPunct="1">
              <a:lnSpc>
                <a:spcPct val="100000"/>
              </a:lnSpc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457200" hangingPunct="1">
              <a:lnSpc>
                <a:spcPct val="100000"/>
              </a:lnSpc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457200" hangingPunct="1">
              <a:lnSpc>
                <a:spcPct val="100000"/>
              </a:lnSpc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457200" hangingPunct="1">
              <a:lnSpc>
                <a:spcPct val="100000"/>
              </a:lnSpc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457200" hangingPunct="1">
              <a:lnSpc>
                <a:spcPct val="100000"/>
              </a:lnSpc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457200" hangingPunct="1">
              <a:lnSpc>
                <a:spcPct val="100000"/>
              </a:lnSpc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457200" hangingPunct="1">
              <a:lnSpc>
                <a:spcPct val="100000"/>
              </a:lnSpc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457200" hangingPunct="1">
              <a:lnSpc>
                <a:spcPct val="100000"/>
              </a:lnSpc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73% мања потрошња меморије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0" algn="just" defTabSz="457200" hangingPunct="1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0" algn="just" defTabSz="457200" hangingPunct="1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85800" y="414505"/>
            <a:ext cx="6624736" cy="60579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ctr" defTabSz="457200">
              <a:buFont typeface="Times New Roman" panose="02020603050405020304" pitchFamily="16" charset="0"/>
              <a:buNone/>
              <a:defRPr/>
            </a:pPr>
            <a:r>
              <a:rPr lang="sr-Cyrl-BA" altLang="sr-Cyrl-R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Експеримент 4</a:t>
            </a:r>
            <a:endParaRPr lang="sr-Cyrl-BA" altLang="sr-Cyrl-R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7403" y="2426018"/>
            <a:ext cx="2295525" cy="105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4400"/>
            <a:ext cx="7596336" cy="9087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95537" y="1216491"/>
            <a:ext cx="8496944" cy="27381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just" defTabSz="457200" hangingPunct="1">
              <a:lnSpc>
                <a:spcPct val="100000"/>
              </a:lnSpc>
              <a:defRPr/>
            </a:pPr>
            <a:r>
              <a:rPr lang="sr-Cyrl-RS" alt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КВАЛИТЕТ ТРАНСКРИПЦИЈЕ (WER)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0" algn="just" defTabSz="457200" hangingPunct="1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0" algn="just" defTabSz="457200" hangingPunct="1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Табела 5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0" algn="just" defTabSz="457200" hangingPunct="1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0" algn="just" defTabSz="457200" hangingPunct="1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Модел	WER [%]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0" algn="just" defTabSz="457200" hangingPunct="1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Whisper	3.70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0" algn="just" defTabSz="457200" hangingPunct="1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Faster-Whisper	3.70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85800" y="414505"/>
            <a:ext cx="6624736" cy="60579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ctr" defTabSz="457200">
              <a:buFont typeface="Times New Roman" panose="02020603050405020304" pitchFamily="16" charset="0"/>
              <a:buNone/>
              <a:defRPr/>
            </a:pPr>
            <a:r>
              <a:rPr lang="sr-Cyrl-BA" altLang="sr-Cyrl-R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Експеримент 5</a:t>
            </a:r>
            <a:endParaRPr lang="sr-Cyrl-BA" altLang="sr-Cyrl-R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4400"/>
            <a:ext cx="7596336" cy="9087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95537" y="1216491"/>
            <a:ext cx="8496944" cy="126047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just" defTabSz="457200" hangingPunct="1">
              <a:lnSpc>
                <a:spcPct val="100000"/>
              </a:lnSpc>
              <a:defRPr/>
            </a:pPr>
            <a:r>
              <a:rPr lang="sr-Cyrl-RS" alt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WER </a:t>
            </a:r>
            <a:r>
              <a:rPr lang="sr-Cyrl-BA" altLang="sr-Cyrl-R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табела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0" algn="just" defTabSz="457200" hangingPunct="1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0" algn="just" defTabSz="457200" hangingPunct="1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85800" y="414505"/>
            <a:ext cx="6624736" cy="66294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ctr" defTabSz="457200">
              <a:buFont typeface="Times New Roman" panose="02020603050405020304" pitchFamily="16" charset="0"/>
              <a:buNone/>
              <a:defRPr/>
            </a:pPr>
            <a:r>
              <a:rPr lang="sr-Cyrl-BA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Експеримент 5</a:t>
            </a:r>
            <a:endParaRPr lang="sr-Cyrl-BA" alt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5875" y="2564765"/>
            <a:ext cx="4019550" cy="1534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4400"/>
            <a:ext cx="7596336" cy="9087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95537" y="1216491"/>
            <a:ext cx="8496944" cy="347662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just" defTabSz="457200" hangingPunct="1">
              <a:lnSpc>
                <a:spcPct val="100000"/>
              </a:lnSpc>
              <a:defRPr/>
            </a:pPr>
            <a:r>
              <a:rPr lang="sr-Cyrl-RS" alt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РЕПРОДУКЦИЈА – ЗАКЉУЧАК</a:t>
            </a:r>
            <a:endParaRPr lang="sr-Cyrl-RS" altLang="en-US" sz="2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457200" hangingPunct="1">
              <a:lnSpc>
                <a:spcPct val="100000"/>
              </a:lnSpc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0" algn="just" defTabSz="457200" hangingPunct="1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Репродуковани резултати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0" algn="just" defTabSz="457200" hangingPunct="1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0" algn="just" defTabSz="457200" hangingPunct="1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✅ Faster-Whisper бржи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0" algn="just" defTabSz="457200" hangingPunct="1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0" algn="just" defTabSz="457200" hangingPunct="1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✅ Faster-Whisper троши мање RAM-а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0" algn="just" defTabSz="457200" hangingPunct="1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0" algn="just" defTabSz="457200" hangingPunct="1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✅ исти WER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85800" y="414505"/>
            <a:ext cx="6624736" cy="60579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ctr" defTabSz="457200">
              <a:buFont typeface="Times New Roman" panose="02020603050405020304" pitchFamily="16" charset="0"/>
              <a:buNone/>
              <a:defRPr/>
            </a:pPr>
            <a:r>
              <a:rPr lang="sr-Cyrl-BA" altLang="sr-Cyrl-R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Експерименти</a:t>
            </a:r>
            <a:endParaRPr 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4400"/>
            <a:ext cx="7596336" cy="9087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95537" y="1216491"/>
            <a:ext cx="8496944" cy="2368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just" defTabSz="457200" hangingPunct="1">
              <a:lnSpc>
                <a:spcPct val="100000"/>
              </a:lnSpc>
              <a:defRPr/>
            </a:pPr>
            <a:r>
              <a:rPr lang="sr-Cyrl-RS" alt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ОРИГИНАЛНИ ДОПРИНОС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0" algn="just" defTabSz="457200" hangingPunct="1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0" algn="just" defTabSz="457200" hangingPunct="1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Три додатна експеримента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tiny/base/small/medium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утицај шума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српски vs енглески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85800" y="414505"/>
            <a:ext cx="6624736" cy="60579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ctr" defTabSz="457200">
              <a:buFont typeface="Times New Roman" panose="02020603050405020304" pitchFamily="16" charset="0"/>
              <a:buNone/>
              <a:defRPr/>
            </a:pPr>
            <a:r>
              <a:rPr lang="sr-Cyrl-BA" altLang="sr-Cyrl-R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Допринос</a:t>
            </a:r>
            <a:endParaRPr lang="sr-Cyrl-BA" altLang="sr-Cyrl-R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4400"/>
            <a:ext cx="7596336" cy="9087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95537" y="1216491"/>
            <a:ext cx="8496944" cy="169164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just" defTabSz="457200" hangingPunct="1">
              <a:lnSpc>
                <a:spcPct val="100000"/>
              </a:lnSpc>
              <a:defRPr/>
            </a:pPr>
            <a:r>
              <a:rPr lang="sr-Cyrl-RS" alt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ВЕЛИЧИНА МОДЕЛА</a:t>
            </a:r>
            <a:endParaRPr lang="sr-Cyrl-RS" altLang="en-US" sz="2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457200" hangingPunct="1">
              <a:lnSpc>
                <a:spcPct val="100000"/>
              </a:lnSpc>
              <a:defRPr/>
            </a:pPr>
            <a:endParaRPr lang="sr-Cyrl-RS" altLang="en-US" sz="2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457200" hangingPunct="1">
              <a:lnSpc>
                <a:spcPct val="100000"/>
              </a:lnSpc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0" algn="just" defTabSz="457200" hangingPunct="1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85800" y="414505"/>
            <a:ext cx="6624736" cy="60579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ctr" defTabSz="457200">
              <a:buFont typeface="Times New Roman" panose="02020603050405020304" pitchFamily="16" charset="0"/>
              <a:buNone/>
              <a:defRPr/>
            </a:pPr>
            <a:r>
              <a:rPr lang="sr-Cyrl-BA" altLang="sr-Cyrl-R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Допринос 1</a:t>
            </a:r>
            <a:endParaRPr lang="sr-Cyrl-BA" altLang="sr-Cyrl-R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3703320" y="356679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graphicFrame>
        <p:nvGraphicFramePr>
          <p:cNvPr id="16" name="Table 15"/>
          <p:cNvGraphicFramePr/>
          <p:nvPr/>
        </p:nvGraphicFramePr>
        <p:xfrm>
          <a:off x="640080" y="3009900"/>
          <a:ext cx="7863840" cy="0"/>
        </p:xfrm>
        <a:graphic>
          <a:graphicData uri="http://schemas.openxmlformats.org/drawingml/2006/table">
            <a:tbl>
              <a:tblPr/>
              <a:tblGrid>
                <a:gridCol w="2621280"/>
                <a:gridCol w="2621280"/>
                <a:gridCol w="2621280"/>
              </a:tblGrid>
              <a:tr h="0"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Модел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Време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WER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tiny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5.11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9.93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base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6.60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9.22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small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15.52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7.09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medium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42.00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7.09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36195" y="296465"/>
            <a:ext cx="7596336" cy="9087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95537" y="1216491"/>
            <a:ext cx="8496944" cy="126047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just" defTabSz="457200" hangingPunct="1">
              <a:lnSpc>
                <a:spcPct val="100000"/>
              </a:lnSpc>
              <a:defRPr/>
            </a:pPr>
            <a:r>
              <a:rPr lang="sr-Cyrl-RS" alt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ГРАФИК ВРЕМЕНА</a:t>
            </a:r>
            <a:endParaRPr lang="sr-Cyrl-RS" altLang="en-US" sz="2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457200" hangingPunct="1">
              <a:lnSpc>
                <a:spcPct val="100000"/>
              </a:lnSpc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0" algn="just" defTabSz="457200" hangingPunct="1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85800" y="414505"/>
            <a:ext cx="6624736" cy="60579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ctr" defTabSz="457200">
              <a:buFont typeface="Times New Roman" panose="02020603050405020304" pitchFamily="16" charset="0"/>
              <a:buNone/>
              <a:defRPr/>
            </a:pPr>
            <a:r>
              <a:rPr lang="sr-Cyrl-BA" altLang="sr-Cyrl-R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Допринос 1</a:t>
            </a:r>
            <a:endParaRPr lang="sr-Cyrl-BA" altLang="sr-Cyrl-R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885" y="2060575"/>
            <a:ext cx="6184265" cy="40360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4400"/>
            <a:ext cx="7596336" cy="9087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95537" y="1216491"/>
            <a:ext cx="8496944" cy="132207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just" defTabSz="457200" hangingPunct="1">
              <a:lnSpc>
                <a:spcPct val="100000"/>
              </a:lnSpc>
              <a:defRPr/>
            </a:pPr>
            <a:r>
              <a:rPr lang="sr-Cyrl-BA" altLang="sr-Cyrl-R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Табела</a:t>
            </a:r>
            <a:r>
              <a:rPr lang="sr-Cyrl-RS" alt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WER</a:t>
            </a:r>
            <a:endParaRPr lang="sr-Cyrl-RS" altLang="en-US" sz="2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457200" hangingPunct="1">
              <a:lnSpc>
                <a:spcPct val="100000"/>
              </a:lnSpc>
              <a:defRPr/>
            </a:pPr>
            <a:endParaRPr lang="sr-Cyrl-RS" altLang="en-US" sz="2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0" algn="just" defTabSz="457200" hangingPunct="1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85800" y="414505"/>
            <a:ext cx="6624736" cy="60579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ctr" defTabSz="457200">
              <a:buFont typeface="Times New Roman" panose="02020603050405020304" pitchFamily="16" charset="0"/>
              <a:buNone/>
              <a:defRPr/>
            </a:pPr>
            <a:r>
              <a:rPr lang="sr-Cyrl-BA" altLang="sr-Cyrl-R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Допринос 1 </a:t>
            </a:r>
            <a:endParaRPr 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3485" y="2538730"/>
            <a:ext cx="3797300" cy="2722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4400"/>
            <a:ext cx="7596336" cy="9087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95537" y="1216491"/>
            <a:ext cx="8496944" cy="279971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just" defTabSz="457200" hangingPunct="1">
              <a:lnSpc>
                <a:spcPct val="100000"/>
              </a:lnSpc>
              <a:defRPr/>
            </a:pPr>
            <a:r>
              <a:rPr lang="en-US" alt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УТИЦАЈ ШУМА</a:t>
            </a:r>
            <a:endParaRPr lang="en-US" altLang="en-US" sz="2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457200" hangingPunct="1">
              <a:lnSpc>
                <a:spcPct val="100000"/>
              </a:lnSpc>
              <a:defRPr/>
            </a:pPr>
            <a:endParaRPr lang="sr-Cyrl-RS" altLang="en-US" sz="2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457200" hangingPunct="1">
              <a:lnSpc>
                <a:spcPct val="100000"/>
              </a:lnSpc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Табела са SNR вредностима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457200" hangingPunct="1">
              <a:lnSpc>
                <a:spcPct val="100000"/>
              </a:lnSpc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457200" hangingPunct="1">
              <a:lnSpc>
                <a:spcPct val="100000"/>
              </a:lnSpc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Скраћена верзија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457200" hangingPunct="1">
              <a:lnSpc>
                <a:spcPct val="100000"/>
              </a:lnSpc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457200" hangingPunct="1">
              <a:lnSpc>
                <a:spcPct val="100000"/>
              </a:lnSpc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85800" y="414505"/>
            <a:ext cx="6624736" cy="60579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ctr" defTabSz="457200">
              <a:buFont typeface="Times New Roman" panose="02020603050405020304" pitchFamily="16" charset="0"/>
              <a:buNone/>
              <a:defRPr/>
            </a:pPr>
            <a:r>
              <a:rPr lang="sr-Cyrl-BA" altLang="sr-Cyrl-R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Допринос 2</a:t>
            </a:r>
            <a:endParaRPr lang="sr-Cyrl-BA" altLang="sr-Cyrl-R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Table 3"/>
          <p:cNvGraphicFramePr/>
          <p:nvPr/>
        </p:nvGraphicFramePr>
        <p:xfrm>
          <a:off x="640080" y="3644900"/>
          <a:ext cx="7863840" cy="0"/>
        </p:xfrm>
        <a:graphic>
          <a:graphicData uri="http://schemas.openxmlformats.org/drawingml/2006/table">
            <a:tbl>
              <a:tblPr/>
              <a:tblGrid>
                <a:gridCol w="2621280"/>
                <a:gridCol w="2621280"/>
                <a:gridCol w="2621280"/>
              </a:tblGrid>
              <a:tr h="0"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SNR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Бели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Pink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-15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-10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92.59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37.04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-5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7.41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3.70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3.70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4400"/>
            <a:ext cx="7596336" cy="9087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95537" y="1216491"/>
            <a:ext cx="8496944" cy="89154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just" defTabSz="457200" hangingPunct="1">
              <a:lnSpc>
                <a:spcPct val="100000"/>
              </a:lnSpc>
              <a:defRPr/>
            </a:pPr>
            <a:r>
              <a:rPr lang="en-US" alt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ГРАФИК ШУМА</a:t>
            </a:r>
            <a:endParaRPr lang="en-US" altLang="en-US" sz="2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457200" hangingPunct="1">
              <a:lnSpc>
                <a:spcPct val="100000"/>
              </a:lnSpc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85800" y="414505"/>
            <a:ext cx="6624736" cy="60579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ctr" defTabSz="457200">
              <a:buFont typeface="Times New Roman" panose="02020603050405020304" pitchFamily="16" charset="0"/>
              <a:buNone/>
              <a:defRPr/>
            </a:pPr>
            <a:r>
              <a:rPr lang="sr-Cyrl-BA" altLang="sr-Cyrl-R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Допринос 2</a:t>
            </a:r>
            <a:endParaRPr 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4" name="Picture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323" y="1700213"/>
            <a:ext cx="5942965" cy="47491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4400"/>
            <a:ext cx="7596336" cy="9087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95537" y="1216491"/>
            <a:ext cx="8496944" cy="35382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just" defTabSz="457200" hangingPunct="1">
              <a:lnSpc>
                <a:spcPct val="100000"/>
              </a:lnSpc>
              <a:defRPr/>
            </a:pPr>
            <a:r>
              <a:rPr lang="en-US" alt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ЗАКЉУЧАК ШУМА</a:t>
            </a:r>
            <a:endParaRPr lang="en-US" altLang="en-US" sz="2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457200" hangingPunct="1">
              <a:lnSpc>
                <a:spcPct val="100000"/>
              </a:lnSpc>
              <a:defRPr/>
            </a:pPr>
            <a:endParaRPr lang="sr-Cyrl-RS" altLang="en-US" sz="2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457200" hangingPunct="1">
              <a:lnSpc>
                <a:spcPct val="100000"/>
              </a:lnSpc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Запажања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457200" hangingPunct="1">
              <a:lnSpc>
                <a:spcPct val="100000"/>
              </a:lnSpc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457200" hangingPunct="1">
              <a:lnSpc>
                <a:spcPct val="100000"/>
              </a:lnSpc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✅ отпоран на умерен шум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457200" hangingPunct="1">
              <a:lnSpc>
                <a:spcPct val="100000"/>
              </a:lnSpc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457200" hangingPunct="1">
              <a:lnSpc>
                <a:spcPct val="100000"/>
              </a:lnSpc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✅ pink мање штетан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457200" hangingPunct="1">
              <a:lnSpc>
                <a:spcPct val="100000"/>
              </a:lnSpc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457200" hangingPunct="1">
              <a:lnSpc>
                <a:spcPct val="100000"/>
              </a:lnSpc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✅ бели шум најгори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85800" y="414505"/>
            <a:ext cx="6624736" cy="60579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ctr" defTabSz="457200">
              <a:buFont typeface="Times New Roman" panose="02020603050405020304" pitchFamily="16" charset="0"/>
              <a:buNone/>
              <a:defRPr/>
            </a:pPr>
            <a:r>
              <a:rPr lang="sr-Cyrl-BA" altLang="sr-Cyrl-R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Допринос 2</a:t>
            </a:r>
            <a:endParaRPr 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3" name="Picture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7365" y="1501775"/>
            <a:ext cx="4601210" cy="49980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4400"/>
            <a:ext cx="7596336" cy="9087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95537" y="1216491"/>
            <a:ext cx="8496944" cy="20612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just" defTabSz="457200" hangingPunct="1">
              <a:lnSpc>
                <a:spcPct val="100000"/>
              </a:lnSpc>
              <a:defRPr/>
            </a:pPr>
            <a:r>
              <a:rPr lang="en-US" alt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СРПСКИ VS ЕНГЛЕСКИ</a:t>
            </a:r>
            <a:endParaRPr lang="en-US" altLang="en-US" sz="2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457200" hangingPunct="1">
              <a:lnSpc>
                <a:spcPct val="100000"/>
              </a:lnSpc>
              <a:defRPr/>
            </a:pPr>
            <a:endParaRPr lang="sr-Cyrl-RS" altLang="en-US" sz="2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0" algn="just" defTabSz="457200" hangingPunct="1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0" algn="just" defTabSz="457200" hangingPunct="1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0" algn="just" defTabSz="457200" hangingPunct="1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85800" y="414505"/>
            <a:ext cx="6624736" cy="60579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ctr" defTabSz="457200">
              <a:buFont typeface="Times New Roman" panose="02020603050405020304" pitchFamily="16" charset="0"/>
              <a:buNone/>
              <a:defRPr/>
            </a:pPr>
            <a:r>
              <a:rPr lang="sr-Cyrl-BA" altLang="sr-Cyrl-R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Допринос 3</a:t>
            </a:r>
            <a:endParaRPr lang="sr-Cyrl-BA" altLang="sr-Cyrl-R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Table 3"/>
          <p:cNvGraphicFramePr/>
          <p:nvPr/>
        </p:nvGraphicFramePr>
        <p:xfrm>
          <a:off x="640080" y="3177540"/>
          <a:ext cx="7863840" cy="0"/>
        </p:xfrm>
        <a:graphic>
          <a:graphicData uri="http://schemas.openxmlformats.org/drawingml/2006/table">
            <a:tbl>
              <a:tblPr/>
              <a:tblGrid>
                <a:gridCol w="3931920"/>
                <a:gridCol w="3931920"/>
              </a:tblGrid>
              <a:tr h="0"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Језик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WER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Енглески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sr-Cyrl-BA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r>
                        <a:rPr lang="sr-Cyrl-BA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Српски</a:t>
                      </a:r>
                      <a:endParaRPr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sr-Cyrl-BA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r>
                        <a:rPr lang="sr-Cyrl-BA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06</a:t>
                      </a:r>
                      <a:endParaRPr lang="sr-Cyrl-BA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5" name="Picture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3755" y="4508500"/>
            <a:ext cx="3886200" cy="1856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4400"/>
            <a:ext cx="7596336" cy="9087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95537" y="1216491"/>
            <a:ext cx="8496944" cy="20612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just" defTabSz="457200" hangingPunct="1">
              <a:lnSpc>
                <a:spcPct val="100000"/>
              </a:lnSpc>
              <a:defRPr/>
            </a:pPr>
            <a:r>
              <a:rPr lang="en-US" alt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ГРАФИК ЈЕЗИКА</a:t>
            </a:r>
            <a:endParaRPr lang="en-US" altLang="en-US" sz="2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457200" hangingPunct="1">
              <a:lnSpc>
                <a:spcPct val="100000"/>
              </a:lnSpc>
              <a:defRPr/>
            </a:pPr>
            <a:endParaRPr lang="sr-Cyrl-RS" altLang="en-US" sz="2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0" algn="just" defTabSz="457200" hangingPunct="1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0" algn="just" defTabSz="457200" hangingPunct="1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0" algn="just" defTabSz="457200" hangingPunct="1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85800" y="414505"/>
            <a:ext cx="6624736" cy="60579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ctr" defTabSz="457200">
              <a:buFont typeface="Times New Roman" panose="02020603050405020304" pitchFamily="16" charset="0"/>
              <a:buNone/>
              <a:defRPr/>
            </a:pPr>
            <a:r>
              <a:rPr lang="sr-Cyrl-BA" altLang="sr-Cyrl-R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Допринос 3</a:t>
            </a:r>
            <a:endParaRPr lang="sr-Cyrl-BA" altLang="sr-Cyrl-R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Table 3"/>
          <p:cNvGraphicFramePr/>
          <p:nvPr/>
        </p:nvGraphicFramePr>
        <p:xfrm>
          <a:off x="640080" y="3168015"/>
          <a:ext cx="7863840" cy="847725"/>
        </p:xfrm>
        <a:graphic>
          <a:graphicData uri="http://schemas.openxmlformats.org/drawingml/2006/table">
            <a:tbl>
              <a:tblPr/>
              <a:tblGrid>
                <a:gridCol w="3931920"/>
                <a:gridCol w="3931920"/>
              </a:tblGrid>
              <a:tr h="512445">
                <a:tc>
                  <a:txBody>
                    <a:bodyPr/>
                    <a:p>
                      <a:endParaRPr lang="en-US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7640">
                <a:tc>
                  <a:txBody>
                    <a:bodyPr/>
                    <a:p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6" name="Picture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8933" y="1844675"/>
            <a:ext cx="5934075" cy="426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4400"/>
            <a:ext cx="7596336" cy="9087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95537" y="1216491"/>
            <a:ext cx="8496944" cy="310769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just" defTabSz="457200" hangingPunct="1">
              <a:lnSpc>
                <a:spcPct val="100000"/>
              </a:lnSpc>
              <a:defRPr/>
            </a:pPr>
            <a:r>
              <a:rPr lang="sr-Cyrl-RS" alt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ДИСКУСИЈА</a:t>
            </a:r>
            <a:endParaRPr lang="sr-Cyrl-RS" altLang="en-US" sz="2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457200" hangingPunct="1">
              <a:lnSpc>
                <a:spcPct val="100000"/>
              </a:lnSpc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0" algn="just" defTabSz="457200" hangingPunct="1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Најважнији налази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најбржи модел → tiny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најбољи WER → small/medium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INT8 побољшава перформансе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шум погоршава резултате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српски тежи за препознавање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85800" y="414505"/>
            <a:ext cx="6624736" cy="60579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ctr" defTabSz="457200">
              <a:buFont typeface="Times New Roman" panose="02020603050405020304" pitchFamily="16" charset="0"/>
              <a:buNone/>
              <a:defRPr/>
            </a:pPr>
            <a:r>
              <a:rPr lang="sr-Cyrl-BA" altLang="sr-Cyrl-R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Дискусија</a:t>
            </a:r>
            <a:endParaRPr lang="sr-Cyrl-BA" altLang="sr-Cyrl-R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4400"/>
            <a:ext cx="7596336" cy="9087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95537" y="1216491"/>
            <a:ext cx="8496944" cy="199961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just" defTabSz="457200" hangingPunct="1">
              <a:lnSpc>
                <a:spcPct val="100000"/>
              </a:lnSpc>
              <a:defRPr/>
            </a:pPr>
            <a:r>
              <a:rPr lang="sr-Cyrl-RS" alt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ОДГОВОР НА ИСТРАЖИВАЧКО ПИТАЊЕ</a:t>
            </a:r>
            <a:endParaRPr lang="sr-Cyrl-RS" altLang="en-US" sz="2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457200" hangingPunct="1">
              <a:lnSpc>
                <a:spcPct val="100000"/>
              </a:lnSpc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0" algn="just" defTabSz="457200" hangingPunct="1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Faster-Whisper је до 1.96× бржи од оригиналног Whisper-а и користи приближно 73% мање RAM меморије уз исти WER резултат.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85800" y="414505"/>
            <a:ext cx="6624736" cy="60579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ctr" defTabSz="457200">
              <a:buFont typeface="Times New Roman" panose="02020603050405020304" pitchFamily="16" charset="0"/>
              <a:buNone/>
              <a:defRPr/>
            </a:pPr>
            <a:r>
              <a:rPr lang="sr-Cyrl-BA" altLang="sr-Cyrl-R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Дискусија</a:t>
            </a:r>
            <a:endParaRPr lang="sr-Cyrl-BA" altLang="sr-Cyrl-R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4400"/>
            <a:ext cx="7596336" cy="9087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95537" y="1216491"/>
            <a:ext cx="8496944" cy="27381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just" defTabSz="457200" hangingPunct="1">
              <a:lnSpc>
                <a:spcPct val="100000"/>
              </a:lnSpc>
              <a:defRPr/>
            </a:pPr>
            <a:r>
              <a:rPr lang="sr-Cyrl-RS" alt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ЗАКЉУЧАК</a:t>
            </a:r>
            <a:endParaRPr lang="sr-Cyrl-RS" altLang="en-US" sz="2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457200" hangingPunct="1">
              <a:lnSpc>
                <a:spcPct val="100000"/>
              </a:lnSpc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Faster-Whisper успешно репродукован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бржи од оригиналног Whisper-а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мања RAM потрошња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исти квалитет транскрипције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just" defTabSz="457200" hangingPunct="1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отпоран на умерен шум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85800" y="414505"/>
            <a:ext cx="6624736" cy="60579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ctr" defTabSz="457200">
              <a:buFont typeface="Times New Roman" panose="02020603050405020304" pitchFamily="16" charset="0"/>
              <a:buNone/>
              <a:defRPr/>
            </a:pPr>
            <a:endParaRPr lang="sr-Cyrl-BA" altLang="sr-Cyrl-R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0" y="284400"/>
            <a:ext cx="6840629" cy="9087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-464" y="225186"/>
            <a:ext cx="9144464" cy="60579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ctr" defTabSz="457200">
              <a:buFont typeface="Times New Roman" panose="02020603050405020304" pitchFamily="16" charset="0"/>
              <a:buNone/>
              <a:defRPr/>
            </a:pPr>
            <a:r>
              <a:rPr lang="sr-Cyrl-RS" sz="3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Литература</a:t>
            </a:r>
            <a:r>
              <a:rPr lang="sr-Latn-RS" sz="3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sr-Cyrl-RS" sz="36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" name="Picture 2" descr="Text-to-Speech Synthesis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407143"/>
            <a:ext cx="2101324" cy="2690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Speech Prosody in Speech Synthesis: Modeling and generation of prosody for high  quality and flexible speech synthesis: Hirose, Keikichi, Tao, Jianhua:  9783662525012: Books - Amazon.c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94" y="4076447"/>
            <a:ext cx="2258115" cy="2745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Box 4"/>
          <p:cNvSpPr txBox="1"/>
          <p:nvPr/>
        </p:nvSpPr>
        <p:spPr>
          <a:xfrm>
            <a:off x="3275330" y="1772285"/>
            <a:ext cx="5744210" cy="4977765"/>
          </a:xfrm>
          <a:prstGeom prst="rect">
            <a:avLst/>
          </a:prstGeom>
        </p:spPr>
        <p:txBody>
          <a:bodyPr>
            <a:noAutofit/>
          </a:bodyPr>
          <a:p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[1]A. Radford et al., Robust Speech Recognition via Large-Scale Weak Supervision, ICML, 2023.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(Whisper рад — кори</a:t>
            </a:r>
            <a:r>
              <a:rPr lang="sr-Cyrl-BA" altLang="en-US" sz="1600">
                <a:latin typeface="Arial" panose="020B0604020202020204" pitchFamily="34" charset="0"/>
                <a:cs typeface="Arial" panose="020B0604020202020204" pitchFamily="34" charset="0"/>
              </a:rPr>
              <a:t>шћен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 за архитектуру, тренинг скуп, моделе и теорију.)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[2]SYSTRAN Team, Faster-Whisper GitHub Repository.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(Главни репозиторијум)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[3]SYSTRAN Team, CTranslate2 Documentation.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(За објашњење CTranslate2 и оптимизација)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[4]A. Vaswani et al., Attention Is All You Need, NeurIPS, 2017.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(Transformer архитектура у теоријском делу.)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[5]R. Krishnamoorthi, Quantizing Deep Convolutional Networks for Efficient Inference, 2018.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(Кори</a:t>
            </a:r>
            <a:r>
              <a:rPr lang="sr-Cyrl-BA" altLang="en-US" sz="1600">
                <a:latin typeface="Arial" panose="020B0604020202020204" pitchFamily="34" charset="0"/>
                <a:cs typeface="Arial" panose="020B0604020202020204" pitchFamily="34" charset="0"/>
              </a:rPr>
              <a:t>шћен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 за део о INT8 квантизацији.)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51460" y="1200785"/>
            <a:ext cx="9001125" cy="507746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marL="355600" algn="just" defTabSz="457200" hangingPunct="1">
              <a:lnSpc>
                <a:spcPct val="150000"/>
              </a:lnSpc>
              <a:defRPr/>
            </a:pPr>
            <a:r>
              <a:rPr lang="en-US" altLang="en-US" sz="2400" dirty="0"/>
              <a:t>https://github.com/openai/whisper</a:t>
            </a:r>
            <a:endParaRPr lang="en-US" altLang="en-US" sz="2400" dirty="0"/>
          </a:p>
          <a:p>
            <a:pPr marL="355600" algn="just" defTabSz="457200" hangingPunct="1">
              <a:lnSpc>
                <a:spcPct val="150000"/>
              </a:lnSpc>
              <a:defRPr/>
            </a:pPr>
            <a:r>
              <a:rPr lang="en-US" altLang="en-US" sz="2400" dirty="0"/>
              <a:t>https://github.com/SYSTRAN/faster-whisper</a:t>
            </a:r>
            <a:endParaRPr lang="en-US" altLang="en-US" sz="2400" dirty="0"/>
          </a:p>
          <a:p>
            <a:pPr marL="355600" algn="just" defTabSz="457200" hangingPunct="1">
              <a:lnSpc>
                <a:spcPct val="150000"/>
              </a:lnSpc>
              <a:defRPr/>
            </a:pPr>
            <a:r>
              <a:rPr lang="en-US" altLang="en-US" sz="2400" dirty="0"/>
              <a:t>https://opennmt.net/CTranslate2</a:t>
            </a:r>
            <a:endParaRPr lang="en-US" altLang="en-US" sz="2400" dirty="0"/>
          </a:p>
          <a:p>
            <a:pPr marL="355600" algn="just" defTabSz="457200" hangingPunct="1">
              <a:lnSpc>
                <a:spcPct val="150000"/>
              </a:lnSpc>
              <a:defRPr/>
            </a:pPr>
            <a:r>
              <a:rPr lang="en-US" altLang="en-US" sz="2400" dirty="0"/>
              <a:t>https://proceedings.mlr.press/v202/radford23a.html</a:t>
            </a:r>
            <a:endParaRPr lang="en-US" altLang="en-US" sz="2400" dirty="0"/>
          </a:p>
          <a:p>
            <a:pPr marL="355600" algn="just" defTabSz="457200" hangingPunct="1">
              <a:lnSpc>
                <a:spcPct val="150000"/>
              </a:lnSpc>
              <a:defRPr/>
            </a:pPr>
            <a:r>
              <a:rPr lang="en-US" altLang="en-US" sz="2400" dirty="0"/>
              <a:t>https://arxiv.org/abs/1706.03762</a:t>
            </a:r>
            <a:endParaRPr lang="en-US" altLang="en-US" sz="2400" dirty="0"/>
          </a:p>
          <a:p>
            <a:pPr marL="355600" algn="just" defTabSz="457200" hangingPunct="1">
              <a:lnSpc>
                <a:spcPct val="150000"/>
              </a:lnSpc>
              <a:defRPr/>
            </a:pPr>
            <a:r>
              <a:rPr lang="en-US" altLang="en-US" sz="2400" dirty="0"/>
              <a:t>https://arxiv.org/abs/1806.08342</a:t>
            </a:r>
            <a:endParaRPr lang="en-US" altLang="en-US" sz="2400" dirty="0"/>
          </a:p>
          <a:p>
            <a:pPr marL="355600" algn="just" defTabSz="457200" hangingPunct="1">
              <a:lnSpc>
                <a:spcPct val="150000"/>
              </a:lnSpc>
              <a:defRPr/>
            </a:pPr>
            <a:r>
              <a:rPr lang="en-US" altLang="en-US" sz="2400" dirty="0"/>
              <a:t>https://openaccess.thecvf.com/content_cvpr_2018/html/Jacob_Quantization_and_Training_CVPR_2018_paper.html</a:t>
            </a:r>
            <a:endParaRPr lang="en-US" altLang="en-US" sz="2400" dirty="0"/>
          </a:p>
          <a:p>
            <a:pPr marL="355600" algn="just" defTabSz="457200" hangingPunct="1">
              <a:lnSpc>
                <a:spcPct val="150000"/>
              </a:lnSpc>
              <a:defRPr/>
            </a:pPr>
            <a:r>
              <a:rPr lang="en-US" altLang="en-US" sz="2400" dirty="0"/>
              <a:t>https://github.com/jitsi/jiwer</a:t>
            </a:r>
            <a:endParaRPr lang="sr-Latn-RS" sz="2400" dirty="0"/>
          </a:p>
        </p:txBody>
      </p:sp>
      <p:sp>
        <p:nvSpPr>
          <p:cNvPr id="15" name="Rectangle 14"/>
          <p:cNvSpPr/>
          <p:nvPr/>
        </p:nvSpPr>
        <p:spPr>
          <a:xfrm>
            <a:off x="-464" y="288032"/>
            <a:ext cx="7127776" cy="9087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502576" y="438622"/>
            <a:ext cx="6624736" cy="60753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ctr" defTabSz="457200">
              <a:buFont typeface="Times New Roman" panose="02020603050405020304" pitchFamily="16" charset="0"/>
              <a:buNone/>
              <a:defRPr/>
            </a:pPr>
            <a:r>
              <a:rPr lang="sr-Cyrl-R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Литература - линкови</a:t>
            </a:r>
            <a:endParaRPr lang="sr-Cyrl-R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8032"/>
            <a:ext cx="7127776" cy="9087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>
            <a:solidFill>
              <a:srgbClr val="3399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445197"/>
            <a:ext cx="5292080" cy="60753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GB"/>
            </a:defPPr>
            <a:lvl1pPr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1pPr>
            <a:lvl2pPr marL="741680" indent="-28448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2pPr>
            <a:lvl3pPr marL="11417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3pPr>
            <a:lvl4pPr marL="15989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4pPr>
            <a:lvl5pPr marL="2056130" indent="-227330" algn="l" defTabSz="45593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WenQuanYi Zen Hei" charset="0"/>
                <a:cs typeface="WenQuanYi Zen Hei" charset="0"/>
              </a:defRPr>
            </a:lvl9pPr>
          </a:lstStyle>
          <a:p>
            <a:pPr algn="ctr" defTabSz="457200">
              <a:buFont typeface="Times New Roman" panose="02020603050405020304" pitchFamily="16" charset="0"/>
              <a:buNone/>
              <a:defRPr/>
            </a:pPr>
            <a:endParaRPr lang="en-GB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1" name="Picture 2" descr="Hvala na pažnji - Minđuše(Nausnice)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422" y="1214041"/>
            <a:ext cx="7185156" cy="5394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5B39425E223BB488DBD11C1820B9B3A" ma:contentTypeVersion="13" ma:contentTypeDescription="Create a new document." ma:contentTypeScope="" ma:versionID="c3c49bf9b49e7cc9fac6ef3d34d3830c">
  <xsd:schema xmlns:xsd="http://www.w3.org/2001/XMLSchema" xmlns:xs="http://www.w3.org/2001/XMLSchema" xmlns:p="http://schemas.microsoft.com/office/2006/metadata/properties" xmlns:ns2="665fbea9-7029-4f57-b1f8-90dd317467d5" xmlns:ns3="a01557c2-69c9-45ef-934d-ac831d30c76a" targetNamespace="http://schemas.microsoft.com/office/2006/metadata/properties" ma:root="true" ma:fieldsID="0fb6887f4a9fa09750db520e4e37d290" ns2:_="" ns3:_="">
    <xsd:import namespace="665fbea9-7029-4f57-b1f8-90dd317467d5"/>
    <xsd:import namespace="a01557c2-69c9-45ef-934d-ac831d30c76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bjectDetectorVersions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5fbea9-7029-4f57-b1f8-90dd317467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7af6a092-5060-4be4-85e7-89201abfb91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1557c2-69c9-45ef-934d-ac831d30c76a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633a5e8d-ef6b-479b-b541-508b52766956}" ma:internalName="TaxCatchAll" ma:showField="CatchAllData" ma:web="a01557c2-69c9-45ef-934d-ac831d30c76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01557c2-69c9-45ef-934d-ac831d30c76a" xsi:nil="true"/>
    <lcf76f155ced4ddcb4097134ff3c332f xmlns="665fbea9-7029-4f57-b1f8-90dd317467d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B9E2ECD-EC47-43C9-9D49-628E970BBF06}">
  <ds:schemaRefs/>
</ds:datastoreItem>
</file>

<file path=customXml/itemProps2.xml><?xml version="1.0" encoding="utf-8"?>
<ds:datastoreItem xmlns:ds="http://schemas.openxmlformats.org/officeDocument/2006/customXml" ds:itemID="{F85D39A2-EFD4-43DE-8959-26D876CD8F0D}">
  <ds:schemaRefs/>
</ds:datastoreItem>
</file>

<file path=customXml/itemProps3.xml><?xml version="1.0" encoding="utf-8"?>
<ds:datastoreItem xmlns:ds="http://schemas.openxmlformats.org/officeDocument/2006/customXml" ds:itemID="{99634095-88A5-4F7F-AC33-0A63FF3A4490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5637</Words>
  <Application>WPS Presentation</Application>
  <PresentationFormat>On-screen Show (4:3)</PresentationFormat>
  <Paragraphs>681</Paragraphs>
  <Slides>48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48</vt:i4>
      </vt:variant>
    </vt:vector>
  </HeadingPairs>
  <TitlesOfParts>
    <vt:vector size="60" baseType="lpstr">
      <vt:lpstr>Arial</vt:lpstr>
      <vt:lpstr>SimSun</vt:lpstr>
      <vt:lpstr>Wingdings</vt:lpstr>
      <vt:lpstr>Times New Roman</vt:lpstr>
      <vt:lpstr>WenQuanYi Zen Hei</vt:lpstr>
      <vt:lpstr>Segoe Print</vt:lpstr>
      <vt:lpstr>Calibri</vt:lpstr>
      <vt:lpstr>Microsoft YaHei</vt:lpstr>
      <vt:lpstr>Arial Unicode MS</vt:lpstr>
      <vt:lpstr>Calibri Light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MD</dc:creator>
  <cp:lastModifiedBy>Aleksandar Jovanovic</cp:lastModifiedBy>
  <cp:revision>360</cp:revision>
  <dcterms:created xsi:type="dcterms:W3CDTF">2019-01-09T23:12:00Z</dcterms:created>
  <dcterms:modified xsi:type="dcterms:W3CDTF">2026-06-20T10:24:24Z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0x010100D5B39425E223BB488DBD11C1820B9B3A</vt:lpwstr>
  </property>
  <property fmtid="{D5CDD505-2E9C-101B-9397-08002B2CF9AE}" pid="3" name="KSOProductBuildVer">
    <vt:lpwstr>1033-12.1.0.26880</vt:lpwstr>
  </property>
  <property fmtid="{D5CDD505-2E9C-101B-9397-08002B2CF9AE}" pid="4" name="ICV">
    <vt:lpwstr>B6A87494CAF34737B123357BE8896012_12</vt:lpwstr>
  </property>
</Properties>
</file>